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10.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Sriracha"/>
      <p:regular r:id="rId23"/>
    </p:embeddedFont>
    <p:embeddedFont>
      <p:font typeface="Itim"/>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9" name="Emma Collins"/>
  <p:cmAuthor clrIdx="1" id="1" initials="" lastIdx="1" name="Ashton Zuburg"/>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font" Target="fonts/Itim-regular.fntdata"/><Relationship Id="rId12" Type="http://schemas.openxmlformats.org/officeDocument/2006/relationships/slide" Target="slides/slide6.xml"/><Relationship Id="rId23" Type="http://schemas.openxmlformats.org/officeDocument/2006/relationships/font" Target="fonts/Srirach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04-25T14:51:05.872">
    <p:pos x="6000" y="0"/>
    <p:text>I can do the intro again if everyone's cool with that</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4-04-23T17:34:42.487">
    <p:pos x="6000" y="0"/>
    <p:text>talk about scope: social media FIRST</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4-04-25T14:44:15.224">
    <p:pos x="6000" y="0"/>
    <p:text>Emma Collins</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4-04-23T17:38:13.707">
    <p:pos x="6000" y="0"/>
    <p:text>Frame script better
Feedback: They are targeting older generations as well. Use facebook for events and older gen bc it can show a ton of pics. Younger generations will also seek out events through facebook</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4-04-23T17:39:44.167">
    <p:pos x="6000" y="0"/>
    <p:text>Feedback: Make it an informative title, they might not know what "CB quotes" means 
Could also change to "See what customers are saying" or "Quotes from consumers"</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4-04-23T02:54:53.579">
    <p:pos x="6000" y="0"/>
    <p:text>Maybe we can make this bullet points but what is written can be the script</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4-04-23T17:41:32.228">
    <p:pos x="6000" y="0"/>
    <p:text>Say what they are looking for</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4-04-23T02:35:35.478">
    <p:pos x="6000" y="0"/>
    <p:text>How you are using the power of creativity learned in our class to benefit the brand
What class concepts you are bringing to life here
How this is consistent with the brand as shown on social media to date and takes the brand even further in the Persona’s mind</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4-04-25T15:20:40.969">
    <p:pos x="6000" y="0"/>
    <p:text>Ashton</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4-04-25T14:44:24.451">
    <p:pos x="6000" y="0"/>
    <p:text>Emma Collins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ceafa9bd5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ceafa9bd5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you through our analysis and strategy brief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then to our creative media plan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cecb5c5c0a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cecb5c5c0a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ceafa9bd58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ceafa9bd58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Emma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During our </a:t>
            </a:r>
            <a:r>
              <a:rPr lang="en"/>
              <a:t>initial</a:t>
            </a:r>
            <a:r>
              <a:rPr lang="en"/>
              <a:t> discovery on East bower, we saw that these associations were very prominent in peoples </a:t>
            </a:r>
            <a:r>
              <a:rPr lang="en"/>
              <a:t>reviews and the east bower Instagram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ceafa9bd5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ceafa9bd5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Aaryan</a:t>
            </a:r>
            <a:endParaRPr/>
          </a:p>
          <a:p>
            <a:pPr indent="0" lvl="0" marL="0" rtl="0" algn="l">
              <a:spcBef>
                <a:spcPts val="0"/>
              </a:spcBef>
              <a:spcAft>
                <a:spcPts val="0"/>
              </a:spcAft>
              <a:buNone/>
            </a:pPr>
            <a:r>
              <a:rPr lang="en"/>
              <a:t>Instagram: Attention goes to posts first, and then reels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Instagram gathers a lot of attention and traction, facebook not as much. A lot of todays </a:t>
            </a:r>
            <a:r>
              <a:rPr lang="en"/>
              <a:t>millennials</a:t>
            </a:r>
            <a:r>
              <a:rPr lang="en"/>
              <a:t> are transition to instagram. Tiktok does not fit east bower demographic</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ceafa9bd5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ceafa9bd5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Isabelle : Talk about how we integrated customer feedback into our insights and ideas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ceafa9bd58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ceafa9bd58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ce5ef54f6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ce5ef54f6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r>
              <a:rPr lang="en"/>
              <a:t>this is the user we hope will see this content on </a:t>
            </a:r>
            <a:r>
              <a:rPr lang="en"/>
              <a:t>your</a:t>
            </a:r>
            <a:r>
              <a:rPr lang="en"/>
              <a:t> media vehicle(s) because it should resonate with them on a “place to chill after work” level”</a:t>
            </a:r>
            <a:endParaRPr/>
          </a:p>
          <a:p>
            <a:pPr indent="0" lvl="0" marL="0" rtl="0" algn="l">
              <a:spcBef>
                <a:spcPts val="0"/>
              </a:spcBef>
              <a:spcAft>
                <a:spcPts val="0"/>
              </a:spcAft>
              <a:buNone/>
            </a:pPr>
            <a:r>
              <a:rPr lang="en"/>
              <a:t>Ryan and Emma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ceafa9bd5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ceafa9bd5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ceafa9bd5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ceafa9bd5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Gloria</a:t>
            </a:r>
            <a:endParaRPr/>
          </a:p>
          <a:p>
            <a:pPr indent="0" lvl="0" marL="0" rtl="0" algn="l">
              <a:spcBef>
                <a:spcPts val="0"/>
              </a:spcBef>
              <a:spcAft>
                <a:spcPts val="0"/>
              </a:spcAft>
              <a:buNone/>
            </a:pPr>
            <a:r>
              <a:rPr lang="en"/>
              <a:t>Get sponsorship from raleigh accounts </a:t>
            </a:r>
            <a:endParaRPr/>
          </a:p>
          <a:p>
            <a:pPr indent="0" lvl="0" marL="0" rtl="0" algn="l">
              <a:spcBef>
                <a:spcPts val="0"/>
              </a:spcBef>
              <a:spcAft>
                <a:spcPts val="0"/>
              </a:spcAft>
              <a:buNone/>
            </a:pPr>
            <a:r>
              <a:rPr lang="en"/>
              <a:t>User generated content → connect with </a:t>
            </a:r>
            <a:r>
              <a:rPr lang="en"/>
              <a:t>customer takeover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consistent with east bowers current instagram brand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The class concept this is tied to is integrating social media and matching the right platforms to the right content</a:t>
            </a:r>
            <a:endParaRPr b="1"/>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ceafa9bd58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ceafa9bd58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Gloria</a:t>
            </a:r>
            <a:endParaRPr/>
          </a:p>
          <a:p>
            <a:pPr indent="0" lvl="0" marL="0" rtl="0" algn="l">
              <a:spcBef>
                <a:spcPts val="0"/>
              </a:spcBef>
              <a:spcAft>
                <a:spcPts val="0"/>
              </a:spcAft>
              <a:buNone/>
            </a:pPr>
            <a:r>
              <a:rPr lang="en"/>
              <a:t>Calendar depicted above is from 27 weeks ago. This post got a lot of likes. Same as the pumpkin patch post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solidFill>
                  <a:schemeClr val="dk1"/>
                </a:solidFill>
              </a:rPr>
              <a:t>The class concept this is tied to is art &amp; design in order to post the right content to social media to show the core values of the brand and offerings</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lnSpc>
                <a:spcPct val="150000"/>
              </a:lnSpc>
              <a:spcBef>
                <a:spcPts val="0"/>
              </a:spcBef>
              <a:spcAft>
                <a:spcPts val="0"/>
              </a:spcAft>
              <a:buNone/>
            </a:pPr>
            <a:r>
              <a:rPr lang="en" sz="1600">
                <a:solidFill>
                  <a:schemeClr val="dk1"/>
                </a:solidFill>
                <a:highlight>
                  <a:srgbClr val="FFDFAC"/>
                </a:highlight>
                <a:latin typeface="Itim"/>
                <a:ea typeface="Itim"/>
                <a:cs typeface="Itim"/>
                <a:sym typeface="Itim"/>
              </a:rPr>
              <a:t> </a:t>
            </a:r>
            <a:r>
              <a:rPr lang="en" sz="1600">
                <a:solidFill>
                  <a:schemeClr val="dk1"/>
                </a:solidFill>
                <a:latin typeface="Itim"/>
                <a:ea typeface="Itim"/>
                <a:cs typeface="Itim"/>
                <a:sym typeface="Itim"/>
              </a:rPr>
              <a:t>Elements used: Unity, Contrast &amp; Dominance, Proportion, Balance</a:t>
            </a:r>
            <a:endParaRPr sz="1600">
              <a:solidFill>
                <a:schemeClr val="dk1"/>
              </a:solidFill>
              <a:latin typeface="Itim"/>
              <a:ea typeface="Itim"/>
              <a:cs typeface="Itim"/>
              <a:sym typeface="Itim"/>
            </a:endParaRPr>
          </a:p>
          <a:p>
            <a:pPr indent="0" lvl="0" marL="0" rtl="0" algn="l">
              <a:lnSpc>
                <a:spcPct val="150000"/>
              </a:lnSpc>
              <a:spcBef>
                <a:spcPts val="0"/>
              </a:spcBef>
              <a:spcAft>
                <a:spcPts val="0"/>
              </a:spcAft>
              <a:buClr>
                <a:schemeClr val="dk1"/>
              </a:buClr>
              <a:buSzPts val="1100"/>
              <a:buFont typeface="Arial"/>
              <a:buNone/>
            </a:pPr>
            <a:r>
              <a:rPr lang="en" sz="1600">
                <a:solidFill>
                  <a:schemeClr val="dk1"/>
                </a:solidFill>
                <a:highlight>
                  <a:srgbClr val="FFDFAC"/>
                </a:highlight>
                <a:latin typeface="Itim"/>
                <a:ea typeface="Itim"/>
                <a:cs typeface="Itim"/>
                <a:sym typeface="Itim"/>
              </a:rPr>
              <a:t> </a:t>
            </a:r>
            <a:r>
              <a:rPr lang="en" sz="1600">
                <a:solidFill>
                  <a:schemeClr val="dk1"/>
                </a:solidFill>
                <a:latin typeface="Itim"/>
                <a:ea typeface="Itim"/>
                <a:cs typeface="Itim"/>
                <a:sym typeface="Itim"/>
              </a:rPr>
              <a:t>Use of Color: Orange (associated with drinks, warm, energizing)</a:t>
            </a:r>
            <a:endParaRPr b="1">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ceafa9bd58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ceafa9bd58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Gloria:</a:t>
            </a:r>
            <a:endParaRPr/>
          </a:p>
          <a:p>
            <a:pPr indent="0" lvl="0" marL="0" rtl="0" algn="l">
              <a:spcBef>
                <a:spcPts val="0"/>
              </a:spcBef>
              <a:spcAft>
                <a:spcPts val="0"/>
              </a:spcAft>
              <a:buNone/>
            </a:pPr>
            <a:r>
              <a:rPr lang="en"/>
              <a:t>Takeover</a:t>
            </a:r>
            <a:r>
              <a:rPr lang="en"/>
              <a:t> comparing to ads:</a:t>
            </a:r>
            <a:endParaRPr/>
          </a:p>
          <a:p>
            <a:pPr indent="-298450" lvl="0" marL="457200" rtl="0" algn="l">
              <a:spcBef>
                <a:spcPts val="0"/>
              </a:spcBef>
              <a:spcAft>
                <a:spcPts val="0"/>
              </a:spcAft>
              <a:buSzPts val="1100"/>
              <a:buChar char="-"/>
            </a:pPr>
            <a:r>
              <a:rPr lang="en"/>
              <a:t>User-generated content is cost-effective and more personal to the users scrolling on instagram.</a:t>
            </a:r>
            <a:endParaRPr/>
          </a:p>
          <a:p>
            <a:pPr indent="0" lvl="0" marL="0" rtl="0" algn="l">
              <a:spcBef>
                <a:spcPts val="0"/>
              </a:spcBef>
              <a:spcAft>
                <a:spcPts val="0"/>
              </a:spcAft>
              <a:buNone/>
            </a:pPr>
            <a:r>
              <a:rPr lang="en"/>
              <a:t>p</a:t>
            </a:r>
            <a:r>
              <a:rPr lang="en"/>
              <a:t>otentially offer a free drink as an incentive (recieve if their post is chosen) → winner wednesday?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testimonials, professional agency can </a:t>
            </a:r>
            <a:r>
              <a:rPr lang="en"/>
              <a:t>help set-up what a good testimonial should look like on recording.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ask (off camera):</a:t>
            </a:r>
            <a:endParaRPr/>
          </a:p>
          <a:p>
            <a:pPr indent="-298450" lvl="0" marL="457200" rtl="0" algn="l">
              <a:spcBef>
                <a:spcPts val="0"/>
              </a:spcBef>
              <a:spcAft>
                <a:spcPts val="0"/>
              </a:spcAft>
              <a:buSzPts val="1100"/>
              <a:buChar char="-"/>
            </a:pPr>
            <a:r>
              <a:rPr lang="en"/>
              <a:t>Did you see this place on social media prior to coming here</a:t>
            </a:r>
            <a:endParaRPr/>
          </a:p>
          <a:p>
            <a:pPr indent="-298450" lvl="0" marL="457200" rtl="0" algn="l">
              <a:spcBef>
                <a:spcPts val="0"/>
              </a:spcBef>
              <a:spcAft>
                <a:spcPts val="0"/>
              </a:spcAft>
              <a:buSzPts val="1100"/>
              <a:buChar char="-"/>
            </a:pPr>
            <a:r>
              <a:rPr lang="en"/>
              <a:t>What did you think about it</a:t>
            </a:r>
            <a:endParaRPr/>
          </a:p>
          <a:p>
            <a:pPr indent="-298450" lvl="0" marL="457200" rtl="0" algn="l">
              <a:spcBef>
                <a:spcPts val="0"/>
              </a:spcBef>
              <a:spcAft>
                <a:spcPts val="0"/>
              </a:spcAft>
              <a:buSzPts val="1100"/>
              <a:buChar char="-"/>
            </a:pPr>
            <a:r>
              <a:rPr lang="en"/>
              <a:t>What social media did you see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b="1" lang="en">
                <a:solidFill>
                  <a:schemeClr val="dk1"/>
                </a:solidFill>
              </a:rPr>
              <a:t>The class concept this is tied to is creativity in advertising. The 5 elements are elaboration, artistic value, originality, flexibility, and synthesis. “Show us how you east cider” are hitting artistic value, originality, and flexibility.</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This will increase attention and lead to positive attitudes towards the brand and its offerings.</a:t>
            </a:r>
            <a:endParaRPr b="1">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ceafa9bd58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ceafa9bd58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Ashton:</a:t>
            </a:r>
            <a:endParaRPr/>
          </a:p>
          <a:p>
            <a:pPr indent="0" lvl="0" marL="0" rtl="0" algn="l">
              <a:spcBef>
                <a:spcPts val="0"/>
              </a:spcBef>
              <a:spcAft>
                <a:spcPts val="0"/>
              </a:spcAft>
              <a:buNone/>
            </a:pPr>
            <a:r>
              <a:rPr lang="en"/>
              <a:t>Takeover: Use this as a way to connect with customers on a personal level. </a:t>
            </a:r>
            <a:r>
              <a:rPr lang="en"/>
              <a:t>Regulars</a:t>
            </a:r>
            <a:r>
              <a:rPr lang="en"/>
              <a:t> want to feel in the know and included in some way. It </a:t>
            </a:r>
            <a:r>
              <a:rPr lang="en"/>
              <a:t>fulfills</a:t>
            </a:r>
            <a:r>
              <a:rPr lang="en"/>
              <a:t> their need of belongingness. It creates transparency </a:t>
            </a:r>
            <a:r>
              <a:rPr lang="en"/>
              <a:t>between</a:t>
            </a:r>
            <a:r>
              <a:rPr lang="en"/>
              <a:t> the customer and the business and gives </a:t>
            </a:r>
            <a:r>
              <a:rPr lang="en"/>
              <a:t>customers</a:t>
            </a:r>
            <a:r>
              <a:rPr lang="en"/>
              <a:t> an “inside scoop” of what goes on to keep their favorite businesses up and running. It is also an </a:t>
            </a:r>
            <a:r>
              <a:rPr lang="en"/>
              <a:t>excellent</a:t>
            </a:r>
            <a:r>
              <a:rPr lang="en"/>
              <a:t> way to attract new employees.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Cider-making: Connect with the customers based on shared values. Be artistic and original. Similar to the takeover, customers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Currently the posts show how the business operates and what events it holds at the surface level. What if we could go </a:t>
            </a:r>
            <a:r>
              <a:rPr lang="en"/>
              <a:t>deeper</a:t>
            </a:r>
            <a:r>
              <a:rPr lang="en"/>
              <a:t> and showcase who EBCC really are, and why people should come out to their events. Let the videos speak for itself – Flexibility and Originality. </a:t>
            </a:r>
            <a:r>
              <a:rPr lang="en">
                <a:solidFill>
                  <a:schemeClr val="dk1"/>
                </a:solidFill>
              </a:rPr>
              <a:t>Customers love a brand that is open and honest. When you go in, they want to know what they’re going to get.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cecb5c5c0a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cecb5c5c0a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Itim"/>
                <a:ea typeface="Itim"/>
                <a:cs typeface="Itim"/>
                <a:sym typeface="Itim"/>
              </a:rPr>
              <a:t>Emma</a:t>
            </a:r>
            <a:endParaRPr>
              <a:latin typeface="Itim"/>
              <a:ea typeface="Itim"/>
              <a:cs typeface="Itim"/>
              <a:sym typeface="Itim"/>
            </a:endParaRPr>
          </a:p>
          <a:p>
            <a:pPr indent="0" lvl="0" marL="0" rtl="0" algn="l">
              <a:spcBef>
                <a:spcPts val="0"/>
              </a:spcBef>
              <a:spcAft>
                <a:spcPts val="0"/>
              </a:spcAft>
              <a:buNone/>
            </a:pPr>
            <a:r>
              <a:t/>
            </a:r>
            <a:endParaRPr>
              <a:latin typeface="Itim"/>
              <a:ea typeface="Itim"/>
              <a:cs typeface="Itim"/>
              <a:sym typeface="Itim"/>
            </a:endParaRPr>
          </a:p>
          <a:p>
            <a:pPr indent="0" lvl="0" marL="0" rtl="0" algn="l">
              <a:spcBef>
                <a:spcPts val="0"/>
              </a:spcBef>
              <a:spcAft>
                <a:spcPts val="0"/>
              </a:spcAft>
              <a:buNone/>
            </a:pPr>
            <a:r>
              <a:rPr lang="en">
                <a:latin typeface="Itim"/>
                <a:ea typeface="Itim"/>
                <a:cs typeface="Itim"/>
                <a:sym typeface="Itim"/>
              </a:rPr>
              <a:t>Highlight 3 class concepts and how we used them in the media plan</a:t>
            </a:r>
            <a:endParaRPr>
              <a:latin typeface="Itim"/>
              <a:ea typeface="Itim"/>
              <a:cs typeface="Itim"/>
              <a:sym typeface="Itim"/>
            </a:endParaRPr>
          </a:p>
          <a:p>
            <a:pPr indent="0" lvl="0" marL="0" rtl="0" algn="l">
              <a:spcBef>
                <a:spcPts val="0"/>
              </a:spcBef>
              <a:spcAft>
                <a:spcPts val="0"/>
              </a:spcAft>
              <a:buNone/>
            </a:pPr>
            <a:r>
              <a:t/>
            </a:r>
            <a:endParaRPr>
              <a:latin typeface="Itim"/>
              <a:ea typeface="Itim"/>
              <a:cs typeface="Itim"/>
              <a:sym typeface="Itim"/>
            </a:endParaRPr>
          </a:p>
          <a:p>
            <a:pPr indent="0" lvl="0" marL="0" rtl="0" algn="l">
              <a:spcBef>
                <a:spcPts val="0"/>
              </a:spcBef>
              <a:spcAft>
                <a:spcPts val="0"/>
              </a:spcAft>
              <a:buClr>
                <a:schemeClr val="dk1"/>
              </a:buClr>
              <a:buSzPts val="1100"/>
              <a:buFont typeface="Arial"/>
              <a:buNone/>
            </a:pPr>
            <a:r>
              <a:rPr b="1" lang="en" sz="1800">
                <a:solidFill>
                  <a:schemeClr val="dk1"/>
                </a:solidFill>
                <a:latin typeface="Itim"/>
                <a:ea typeface="Itim"/>
                <a:cs typeface="Itim"/>
                <a:sym typeface="Itim"/>
              </a:rPr>
              <a:t>For Integrating Social Media…</a:t>
            </a:r>
            <a:endParaRPr b="1" sz="1800">
              <a:solidFill>
                <a:schemeClr val="dk1"/>
              </a:solidFill>
              <a:latin typeface="Itim"/>
              <a:ea typeface="Itim"/>
              <a:cs typeface="Itim"/>
              <a:sym typeface="Itim"/>
            </a:endParaRPr>
          </a:p>
          <a:p>
            <a:pPr indent="0" lvl="0" marL="0" rtl="0" algn="l">
              <a:lnSpc>
                <a:spcPct val="150000"/>
              </a:lnSpc>
              <a:spcBef>
                <a:spcPts val="0"/>
              </a:spcBef>
              <a:spcAft>
                <a:spcPts val="0"/>
              </a:spcAft>
              <a:buClr>
                <a:schemeClr val="dk1"/>
              </a:buClr>
              <a:buSzPts val="1100"/>
              <a:buFont typeface="Arial"/>
              <a:buNone/>
            </a:pPr>
            <a:r>
              <a:rPr lang="en" sz="1600">
                <a:solidFill>
                  <a:schemeClr val="dk1"/>
                </a:solidFill>
                <a:latin typeface="Itim"/>
                <a:ea typeface="Itim"/>
                <a:cs typeface="Itim"/>
                <a:sym typeface="Itim"/>
              </a:rPr>
              <a:t>We explained how matching the right platforms to the right content is vital</a:t>
            </a:r>
            <a:endParaRPr sz="1600">
              <a:solidFill>
                <a:schemeClr val="dk1"/>
              </a:solidFill>
              <a:latin typeface="Itim"/>
              <a:ea typeface="Itim"/>
              <a:cs typeface="Itim"/>
              <a:sym typeface="Itim"/>
            </a:endParaRPr>
          </a:p>
          <a:p>
            <a:pPr indent="0" lvl="0" marL="0" rtl="0" algn="l">
              <a:lnSpc>
                <a:spcPct val="150000"/>
              </a:lnSpc>
              <a:spcBef>
                <a:spcPts val="0"/>
              </a:spcBef>
              <a:spcAft>
                <a:spcPts val="0"/>
              </a:spcAft>
              <a:buClr>
                <a:schemeClr val="dk1"/>
              </a:buClr>
              <a:buSzPts val="1100"/>
              <a:buFont typeface="Arial"/>
              <a:buNone/>
            </a:pPr>
            <a:r>
              <a:rPr lang="en" sz="1600">
                <a:solidFill>
                  <a:schemeClr val="dk1"/>
                </a:solidFill>
                <a:latin typeface="Itim"/>
                <a:ea typeface="Itim"/>
                <a:cs typeface="Itim"/>
                <a:sym typeface="Itim"/>
              </a:rPr>
              <a:t>Integrating social media effective also shows a connection and understanding of the customer journey</a:t>
            </a:r>
            <a:endParaRPr sz="1600">
              <a:solidFill>
                <a:schemeClr val="dk1"/>
              </a:solidFill>
              <a:latin typeface="Itim"/>
              <a:ea typeface="Itim"/>
              <a:cs typeface="Itim"/>
              <a:sym typeface="Itim"/>
            </a:endParaRPr>
          </a:p>
          <a:p>
            <a:pPr indent="0" lvl="0" marL="0" rtl="0" algn="l">
              <a:lnSpc>
                <a:spcPct val="150000"/>
              </a:lnSpc>
              <a:spcBef>
                <a:spcPts val="0"/>
              </a:spcBef>
              <a:spcAft>
                <a:spcPts val="0"/>
              </a:spcAft>
              <a:buClr>
                <a:schemeClr val="dk1"/>
              </a:buClr>
              <a:buSzPts val="1100"/>
              <a:buFont typeface="Arial"/>
              <a:buNone/>
            </a:pPr>
            <a:r>
              <a:rPr lang="en" sz="1600">
                <a:solidFill>
                  <a:schemeClr val="dk1"/>
                </a:solidFill>
                <a:latin typeface="Itim"/>
                <a:ea typeface="Itim"/>
                <a:cs typeface="Itim"/>
                <a:sym typeface="Itim"/>
              </a:rPr>
              <a:t>We also know that the use hashtags is great for creating community and driving engagement (likes, follows, UGC)</a:t>
            </a:r>
            <a:endParaRPr sz="1600">
              <a:solidFill>
                <a:schemeClr val="dk1"/>
              </a:solidFill>
              <a:latin typeface="Itim"/>
              <a:ea typeface="Itim"/>
              <a:cs typeface="Itim"/>
              <a:sym typeface="Itim"/>
            </a:endParaRPr>
          </a:p>
          <a:p>
            <a:pPr indent="0" lvl="0" marL="0" rtl="0" algn="l">
              <a:spcBef>
                <a:spcPts val="0"/>
              </a:spcBef>
              <a:spcAft>
                <a:spcPts val="0"/>
              </a:spcAft>
              <a:buClr>
                <a:schemeClr val="dk1"/>
              </a:buClr>
              <a:buSzPts val="1100"/>
              <a:buFont typeface="Arial"/>
              <a:buNone/>
            </a:pPr>
            <a:r>
              <a:rPr b="1" lang="en" sz="1800">
                <a:solidFill>
                  <a:schemeClr val="dk1"/>
                </a:solidFill>
                <a:latin typeface="Itim"/>
                <a:ea typeface="Itim"/>
                <a:cs typeface="Itim"/>
                <a:sym typeface="Itim"/>
              </a:rPr>
              <a:t>Art &amp; Design</a:t>
            </a:r>
            <a:endParaRPr b="1" sz="1800">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sz="1600">
                <a:solidFill>
                  <a:schemeClr val="dk1"/>
                </a:solidFill>
                <a:latin typeface="Itim"/>
                <a:ea typeface="Itim"/>
                <a:cs typeface="Itim"/>
                <a:sym typeface="Itim"/>
              </a:rPr>
              <a:t>The Elements we used are Unity, Contrast &amp; Dominance, Proportion, Balance</a:t>
            </a:r>
            <a:endParaRPr sz="1600">
              <a:solidFill>
                <a:schemeClr val="dk1"/>
              </a:solidFill>
              <a:highlight>
                <a:srgbClr val="FFDFAC"/>
              </a:highlight>
              <a:latin typeface="Itim"/>
              <a:ea typeface="Itim"/>
              <a:cs typeface="Itim"/>
              <a:sym typeface="Itim"/>
            </a:endParaRPr>
          </a:p>
          <a:p>
            <a:pPr indent="0" lvl="0" marL="0" rtl="0" algn="l">
              <a:lnSpc>
                <a:spcPct val="150000"/>
              </a:lnSpc>
              <a:spcBef>
                <a:spcPts val="0"/>
              </a:spcBef>
              <a:spcAft>
                <a:spcPts val="0"/>
              </a:spcAft>
              <a:buClr>
                <a:schemeClr val="dk1"/>
              </a:buClr>
              <a:buSzPts val="1100"/>
              <a:buFont typeface="Arial"/>
              <a:buNone/>
            </a:pPr>
            <a:r>
              <a:rPr lang="en" sz="1600">
                <a:solidFill>
                  <a:schemeClr val="dk1"/>
                </a:solidFill>
                <a:latin typeface="Itim"/>
                <a:ea typeface="Itim"/>
                <a:cs typeface="Itim"/>
                <a:sym typeface="Itim"/>
              </a:rPr>
              <a:t>Having proper design allows you to show the core values of the brand and offerings</a:t>
            </a:r>
            <a:endParaRPr sz="1600">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sz="1600">
                <a:solidFill>
                  <a:schemeClr val="dk1"/>
                </a:solidFill>
                <a:latin typeface="Itim"/>
                <a:ea typeface="Itim"/>
                <a:cs typeface="Itim"/>
                <a:sym typeface="Itim"/>
              </a:rPr>
              <a:t>Something great you are already doing that we want to continue to highlight is the use of Color. Especially Orange as it is associated with drinks, warm, energizing</a:t>
            </a:r>
            <a:endParaRPr>
              <a:latin typeface="Itim"/>
              <a:ea typeface="Itim"/>
              <a:cs typeface="Itim"/>
              <a:sym typeface="Itim"/>
            </a:endParaRPr>
          </a:p>
          <a:p>
            <a:pPr indent="0" lvl="0" marL="0" rtl="0" algn="l">
              <a:spcBef>
                <a:spcPts val="0"/>
              </a:spcBef>
              <a:spcAft>
                <a:spcPts val="0"/>
              </a:spcAft>
              <a:buNone/>
            </a:pPr>
            <a:r>
              <a:t/>
            </a:r>
            <a:endParaRPr b="1" sz="1800">
              <a:solidFill>
                <a:schemeClr val="dk1"/>
              </a:solidFill>
              <a:latin typeface="Itim"/>
              <a:ea typeface="Itim"/>
              <a:cs typeface="Itim"/>
              <a:sym typeface="Itim"/>
            </a:endParaRPr>
          </a:p>
          <a:p>
            <a:pPr indent="0" lvl="0" marL="0" rtl="0" algn="l">
              <a:spcBef>
                <a:spcPts val="0"/>
              </a:spcBef>
              <a:spcAft>
                <a:spcPts val="0"/>
              </a:spcAft>
              <a:buClr>
                <a:schemeClr val="dk1"/>
              </a:buClr>
              <a:buSzPts val="1100"/>
              <a:buFont typeface="Arial"/>
              <a:buNone/>
            </a:pPr>
            <a:r>
              <a:rPr b="1" lang="en" sz="1800">
                <a:solidFill>
                  <a:schemeClr val="dk1"/>
                </a:solidFill>
                <a:latin typeface="Itim"/>
                <a:ea typeface="Itim"/>
                <a:cs typeface="Itim"/>
                <a:sym typeface="Itim"/>
              </a:rPr>
              <a:t>Creativity in Advertising</a:t>
            </a:r>
            <a:endParaRPr b="1" sz="1800">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sz="1600">
                <a:solidFill>
                  <a:schemeClr val="dk1"/>
                </a:solidFill>
                <a:latin typeface="Itim"/>
                <a:ea typeface="Itim"/>
                <a:cs typeface="Itim"/>
                <a:sym typeface="Itim"/>
              </a:rPr>
              <a:t>We were able to use 3 out of the 5 elements</a:t>
            </a:r>
            <a:endParaRPr sz="1600">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sz="1600">
                <a:solidFill>
                  <a:schemeClr val="dk1"/>
                </a:solidFill>
                <a:latin typeface="Itim"/>
                <a:ea typeface="Itim"/>
                <a:cs typeface="Itim"/>
                <a:sym typeface="Itim"/>
              </a:rPr>
              <a:t>(5 elements are elaboration, artistic value, originality, flexibility, and synthesis</a:t>
            </a:r>
            <a:r>
              <a:rPr lang="en">
                <a:solidFill>
                  <a:schemeClr val="dk1"/>
                </a:solidFill>
                <a:latin typeface="Itim"/>
                <a:ea typeface="Itim"/>
                <a:cs typeface="Itim"/>
                <a:sym typeface="Itim"/>
              </a:rPr>
              <a:t>)</a:t>
            </a:r>
            <a:endParaRPr>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a:solidFill>
                  <a:schemeClr val="dk1"/>
                </a:solidFill>
                <a:latin typeface="Itim"/>
                <a:ea typeface="Itim"/>
                <a:cs typeface="Itim"/>
                <a:sym typeface="Itim"/>
              </a:rPr>
              <a:t>It was really important for us to have originality in this media plan because that is rated as the most effective element</a:t>
            </a:r>
            <a:endParaRPr>
              <a:solidFill>
                <a:schemeClr val="dk1"/>
              </a:solidFill>
              <a:latin typeface="Itim"/>
              <a:ea typeface="Itim"/>
              <a:cs typeface="Itim"/>
              <a:sym typeface="Itim"/>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Itim"/>
                <a:ea typeface="Itim"/>
                <a:cs typeface="Itim"/>
                <a:sym typeface="Itim"/>
              </a:rPr>
              <a:t>Overall having creativity in advertising increases attention and leads to a positive attitude towards your brand</a:t>
            </a:r>
            <a:endParaRPr>
              <a:solidFill>
                <a:schemeClr val="dk1"/>
              </a:solidFill>
              <a:latin typeface="Itim"/>
              <a:ea typeface="Itim"/>
              <a:cs typeface="Itim"/>
              <a:sym typeface="Itim"/>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ceafa9bd58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ceafa9bd58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t>Aaryan</a:t>
            </a:r>
            <a:endParaRPr/>
          </a:p>
          <a:p>
            <a:pPr indent="0" lvl="0" marL="0" rtl="0" algn="l">
              <a:lnSpc>
                <a:spcPct val="150000"/>
              </a:lnSpc>
              <a:spcBef>
                <a:spcPts val="0"/>
              </a:spcBef>
              <a:spcAft>
                <a:spcPts val="0"/>
              </a:spcAft>
              <a:buClr>
                <a:schemeClr val="dk1"/>
              </a:buClr>
              <a:buSzPts val="1100"/>
              <a:buFont typeface="Arial"/>
              <a:buNone/>
            </a:pPr>
            <a:r>
              <a:rPr lang="en"/>
              <a:t>Instagram is the most effective media for East Bower</a:t>
            </a:r>
            <a:endParaRPr/>
          </a:p>
          <a:p>
            <a:pPr indent="0" lvl="0" marL="0" rtl="0" algn="l">
              <a:lnSpc>
                <a:spcPct val="150000"/>
              </a:lnSpc>
              <a:spcBef>
                <a:spcPts val="0"/>
              </a:spcBef>
              <a:spcAft>
                <a:spcPts val="0"/>
              </a:spcAft>
              <a:buClr>
                <a:schemeClr val="dk1"/>
              </a:buClr>
              <a:buSzPts val="1100"/>
              <a:buFont typeface="Arial"/>
              <a:buNone/>
            </a:pPr>
            <a:r>
              <a:rPr lang="en"/>
              <a:t>Ideal # of followers is ~5200 for local businesses | EBCC exceeds that</a:t>
            </a:r>
            <a:endParaRPr/>
          </a:p>
          <a:p>
            <a:pPr indent="0" lvl="0" marL="0" rtl="0" algn="l">
              <a:lnSpc>
                <a:spcPct val="150000"/>
              </a:lnSpc>
              <a:spcBef>
                <a:spcPts val="0"/>
              </a:spcBef>
              <a:spcAft>
                <a:spcPts val="0"/>
              </a:spcAft>
              <a:buClr>
                <a:schemeClr val="dk1"/>
              </a:buClr>
              <a:buSzPts val="1100"/>
              <a:buFont typeface="Arial"/>
              <a:buNone/>
            </a:pPr>
            <a:r>
              <a:rPr lang="en"/>
              <a:t>Paid ads and organic content have to work hand-in-hand | Paid to attract, organic to keep</a:t>
            </a:r>
            <a:endParaRPr/>
          </a:p>
          <a:p>
            <a:pPr indent="-298450" lvl="0" marL="914400" rtl="0" algn="l">
              <a:lnSpc>
                <a:spcPct val="150000"/>
              </a:lnSpc>
              <a:spcBef>
                <a:spcPts val="0"/>
              </a:spcBef>
              <a:spcAft>
                <a:spcPts val="0"/>
              </a:spcAft>
              <a:buSzPts val="1100"/>
              <a:buChar char="-"/>
            </a:pPr>
            <a:r>
              <a:rPr lang="en"/>
              <a:t>w</a:t>
            </a:r>
            <a:r>
              <a:rPr lang="en"/>
              <a:t>ith paid, you want to promote </a:t>
            </a:r>
            <a:r>
              <a:rPr lang="en"/>
              <a:t>customer</a:t>
            </a:r>
            <a:r>
              <a:rPr lang="en"/>
              <a:t> interaction videos, such as those seen in glorias creative, videos/pictures of new ciders. The more creative and out of this world, the better</a:t>
            </a:r>
            <a:endParaRPr/>
          </a:p>
          <a:p>
            <a:pPr indent="-298450" lvl="0" marL="914400" rtl="0" algn="l">
              <a:lnSpc>
                <a:spcPct val="150000"/>
              </a:lnSpc>
              <a:spcBef>
                <a:spcPts val="0"/>
              </a:spcBef>
              <a:spcAft>
                <a:spcPts val="0"/>
              </a:spcAft>
              <a:buSzPts val="1100"/>
              <a:buChar char="-"/>
            </a:pPr>
            <a:r>
              <a:rPr lang="en"/>
              <a:t>With organic, </a:t>
            </a:r>
            <a:r>
              <a:rPr lang="en"/>
              <a:t>promote calendars, upcoming events, pictures of new ciders</a:t>
            </a:r>
            <a:endParaRPr/>
          </a:p>
          <a:p>
            <a:pPr indent="0" lvl="0" marL="0" rtl="0" algn="l">
              <a:lnSpc>
                <a:spcPct val="150000"/>
              </a:lnSpc>
              <a:spcBef>
                <a:spcPts val="0"/>
              </a:spcBef>
              <a:spcAft>
                <a:spcPts val="0"/>
              </a:spcAft>
              <a:buClr>
                <a:schemeClr val="dk1"/>
              </a:buClr>
              <a:buSzPts val="1100"/>
              <a:buFont typeface="Arial"/>
              <a:buNone/>
            </a:pPr>
            <a:r>
              <a:rPr lang="en"/>
              <a:t>It is worth to boost, as Raleigh is a wide area? | 37% of Raleigh's population falls under the 25-44 age range → about 25% fit our target audience → ~25,000 people</a:t>
            </a:r>
            <a:endParaRPr/>
          </a:p>
          <a:p>
            <a:pPr indent="0" lvl="0" marL="0" rtl="0" algn="l">
              <a:lnSpc>
                <a:spcPct val="150000"/>
              </a:lnSpc>
              <a:spcBef>
                <a:spcPts val="0"/>
              </a:spcBef>
              <a:spcAft>
                <a:spcPts val="0"/>
              </a:spcAft>
              <a:buClr>
                <a:schemeClr val="dk1"/>
              </a:buClr>
              <a:buSzPts val="1100"/>
              <a:buFont typeface="Arial"/>
              <a:buNone/>
            </a:pPr>
            <a:r>
              <a:rPr lang="en"/>
              <a:t>Ads will enable East Bower to connect to new consumers in their desired market. Authentic content will establish that connection and keep consumers interested</a:t>
            </a:r>
            <a:endParaRPr/>
          </a:p>
          <a:p>
            <a:pPr indent="0" lvl="0" marL="0" rtl="0" algn="l">
              <a:lnSpc>
                <a:spcPct val="150000"/>
              </a:lnSpc>
              <a:spcBef>
                <a:spcPts val="0"/>
              </a:spcBef>
              <a:spcAft>
                <a:spcPts val="0"/>
              </a:spcAft>
              <a:buClr>
                <a:schemeClr val="dk1"/>
              </a:buClr>
              <a:buSzPts val="1100"/>
              <a:buFont typeface="Arial"/>
              <a:buNone/>
            </a:pPr>
            <a:r>
              <a:rPr lang="en"/>
              <a:t>Keeping a consistent content calendar reinforces brand perception, while unique and creative content builds brand awareness</a:t>
            </a:r>
            <a:endParaRPr/>
          </a:p>
          <a:p>
            <a:pPr indent="0" lvl="0" marL="0" rtl="0" algn="l">
              <a:lnSpc>
                <a:spcPct val="150000"/>
              </a:lnSpc>
              <a:spcBef>
                <a:spcPts val="0"/>
              </a:spcBef>
              <a:spcAft>
                <a:spcPts val="0"/>
              </a:spcAft>
              <a:buClr>
                <a:schemeClr val="dk1"/>
              </a:buClr>
              <a:buSzPts val="1100"/>
              <a:buFont typeface="Arial"/>
              <a:buNone/>
            </a:pPr>
            <a:r>
              <a:t/>
            </a:r>
            <a:endParaRPr/>
          </a:p>
          <a:p>
            <a:pPr indent="0" lvl="0" marL="0" rtl="0" algn="l">
              <a:lnSpc>
                <a:spcPct val="15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cecb5c5c0a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cecb5c5c0a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Aaryan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B6D7A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omments" Target="../comments/comment2.xml"/><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3.xml"/><Relationship Id="rId4" Type="http://schemas.openxmlformats.org/officeDocument/2006/relationships/image" Target="../media/image12.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4.xml"/><Relationship Id="rId4" Type="http://schemas.openxmlformats.org/officeDocument/2006/relationships/image" Target="../media/image8.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5.xml"/><Relationship Id="rId4" Type="http://schemas.openxmlformats.org/officeDocument/2006/relationships/image" Target="../media/image4.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6.xml"/><Relationship Id="rId4" Type="http://schemas.openxmlformats.org/officeDocument/2006/relationships/image" Target="../media/image4.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7.xml"/><Relationship Id="rId4" Type="http://schemas.openxmlformats.org/officeDocument/2006/relationships/image" Target="../media/image4.png"/><Relationship Id="rId5" Type="http://schemas.openxmlformats.org/officeDocument/2006/relationships/image" Target="../media/image13.png"/><Relationship Id="rId6" Type="http://schemas.openxmlformats.org/officeDocument/2006/relationships/image" Target="../media/image15.png"/><Relationship Id="rId7"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8.xml"/><Relationship Id="rId4" Type="http://schemas.openxmlformats.org/officeDocument/2006/relationships/image" Target="../media/image16.png"/><Relationship Id="rId5" Type="http://schemas.openxmlformats.org/officeDocument/2006/relationships/image" Target="../media/image4.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19.png"/><Relationship Id="rId6"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drive.google.com/file/d/1Se4u8i_B3QegP5pqmqAGU6rA6FpwPUI-/view" TargetMode="External"/><Relationship Id="rId4" Type="http://schemas.openxmlformats.org/officeDocument/2006/relationships/image" Target="../media/image20.jpg"/><Relationship Id="rId10" Type="http://schemas.openxmlformats.org/officeDocument/2006/relationships/image" Target="../media/image22.jpg"/><Relationship Id="rId9" Type="http://schemas.openxmlformats.org/officeDocument/2006/relationships/hyperlink" Target="http://drive.google.com/file/d/1eP3-VpMLmNHbkCl06EVX0riov94ENZ5a/view" TargetMode="External"/><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hyperlink" Target="http://drive.google.com/file/d/1vqhAslSQP5AFawQHYblZJkgTeO641-B7/view" TargetMode="External"/><Relationship Id="rId8" Type="http://schemas.openxmlformats.org/officeDocument/2006/relationships/image" Target="../media/image2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9.xml"/><Relationship Id="rId4" Type="http://schemas.openxmlformats.org/officeDocument/2006/relationships/image" Target="../media/image8.png"/><Relationship Id="rId10" Type="http://schemas.openxmlformats.org/officeDocument/2006/relationships/image" Target="../media/image25.png"/><Relationship Id="rId9" Type="http://schemas.openxmlformats.org/officeDocument/2006/relationships/image" Target="../media/image24.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hyperlink" Target="http://drive.google.com/file/d/1suGujezUUPBofucdpAZXzznx3lm9ClGs/view" TargetMode="External"/><Relationship Id="rId8"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omments" Target="../comments/comment10.xml"/><Relationship Id="rId4" Type="http://schemas.openxmlformats.org/officeDocument/2006/relationships/image" Target="../media/image2.pn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rot="3473248">
            <a:off x="-2386892" y="-2235996"/>
            <a:ext cx="4265036" cy="4265046"/>
          </a:xfrm>
          <a:prstGeom prst="rect">
            <a:avLst/>
          </a:prstGeom>
          <a:noFill/>
          <a:ln>
            <a:noFill/>
          </a:ln>
        </p:spPr>
      </p:pic>
      <p:pic>
        <p:nvPicPr>
          <p:cNvPr id="55" name="Google Shape;55;p13"/>
          <p:cNvPicPr preferRelativeResize="0"/>
          <p:nvPr/>
        </p:nvPicPr>
        <p:blipFill>
          <a:blip r:embed="rId4">
            <a:alphaModFix/>
          </a:blip>
          <a:stretch>
            <a:fillRect/>
          </a:stretch>
        </p:blipFill>
        <p:spPr>
          <a:xfrm rot="4636963">
            <a:off x="2092475" y="-2995675"/>
            <a:ext cx="5143499" cy="5143499"/>
          </a:xfrm>
          <a:prstGeom prst="rect">
            <a:avLst/>
          </a:prstGeom>
          <a:noFill/>
          <a:ln>
            <a:noFill/>
          </a:ln>
        </p:spPr>
      </p:pic>
      <p:pic>
        <p:nvPicPr>
          <p:cNvPr id="56" name="Google Shape;56;p13"/>
          <p:cNvPicPr preferRelativeResize="0"/>
          <p:nvPr/>
        </p:nvPicPr>
        <p:blipFill>
          <a:blip r:embed="rId4">
            <a:alphaModFix/>
          </a:blip>
          <a:stretch>
            <a:fillRect/>
          </a:stretch>
        </p:blipFill>
        <p:spPr>
          <a:xfrm>
            <a:off x="3640925" y="2739900"/>
            <a:ext cx="4149701" cy="4149701"/>
          </a:xfrm>
          <a:prstGeom prst="rect">
            <a:avLst/>
          </a:prstGeom>
          <a:noFill/>
          <a:ln>
            <a:noFill/>
          </a:ln>
        </p:spPr>
      </p:pic>
      <p:pic>
        <p:nvPicPr>
          <p:cNvPr id="57" name="Google Shape;57;p13"/>
          <p:cNvPicPr preferRelativeResize="0"/>
          <p:nvPr/>
        </p:nvPicPr>
        <p:blipFill rotWithShape="1">
          <a:blip r:embed="rId5">
            <a:alphaModFix/>
          </a:blip>
          <a:srcRect b="6263" l="84991" r="0" t="49473"/>
          <a:stretch/>
        </p:blipFill>
        <p:spPr>
          <a:xfrm flipH="1" rot="-6992906">
            <a:off x="7666478" y="2320019"/>
            <a:ext cx="2363091" cy="4332311"/>
          </a:xfrm>
          <a:prstGeom prst="rect">
            <a:avLst/>
          </a:prstGeom>
          <a:noFill/>
          <a:ln>
            <a:noFill/>
          </a:ln>
        </p:spPr>
      </p:pic>
      <p:pic>
        <p:nvPicPr>
          <p:cNvPr id="58" name="Google Shape;58;p13"/>
          <p:cNvPicPr preferRelativeResize="0"/>
          <p:nvPr/>
        </p:nvPicPr>
        <p:blipFill rotWithShape="1">
          <a:blip r:embed="rId5">
            <a:alphaModFix/>
          </a:blip>
          <a:srcRect b="6263" l="84991" r="0" t="49473"/>
          <a:stretch/>
        </p:blipFill>
        <p:spPr>
          <a:xfrm rot="6992910">
            <a:off x="3479048" y="165263"/>
            <a:ext cx="2185904" cy="4007476"/>
          </a:xfrm>
          <a:prstGeom prst="rect">
            <a:avLst/>
          </a:prstGeom>
          <a:noFill/>
          <a:ln>
            <a:noFill/>
          </a:ln>
        </p:spPr>
      </p:pic>
      <p:grpSp>
        <p:nvGrpSpPr>
          <p:cNvPr id="59" name="Google Shape;59;p13"/>
          <p:cNvGrpSpPr/>
          <p:nvPr/>
        </p:nvGrpSpPr>
        <p:grpSpPr>
          <a:xfrm rot="3198637">
            <a:off x="-1355310" y="1551977"/>
            <a:ext cx="3257375" cy="2699495"/>
            <a:chOff x="6364041" y="834900"/>
            <a:chExt cx="2052526" cy="1582775"/>
          </a:xfrm>
        </p:grpSpPr>
        <p:pic>
          <p:nvPicPr>
            <p:cNvPr id="60" name="Google Shape;60;p13"/>
            <p:cNvPicPr preferRelativeResize="0"/>
            <p:nvPr/>
          </p:nvPicPr>
          <p:blipFill rotWithShape="1">
            <a:blip r:embed="rId5">
              <a:alphaModFix/>
            </a:blip>
            <a:srcRect b="43521" l="70546" r="3085" t="24455"/>
            <a:stretch/>
          </p:blipFill>
          <p:spPr>
            <a:xfrm>
              <a:off x="6364041" y="834900"/>
              <a:ext cx="2052526" cy="1549525"/>
            </a:xfrm>
            <a:prstGeom prst="rect">
              <a:avLst/>
            </a:prstGeom>
            <a:noFill/>
            <a:ln>
              <a:noFill/>
            </a:ln>
          </p:spPr>
        </p:pic>
        <p:sp>
          <p:nvSpPr>
            <p:cNvPr id="61" name="Google Shape;61;p13"/>
            <p:cNvSpPr/>
            <p:nvPr/>
          </p:nvSpPr>
          <p:spPr>
            <a:xfrm>
              <a:off x="8080325" y="2076875"/>
              <a:ext cx="243300" cy="340800"/>
            </a:xfrm>
            <a:prstGeom prst="rect">
              <a:avLst/>
            </a:prstGeom>
            <a:solidFill>
              <a:srgbClr val="B5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2" name="Google Shape;62;p13"/>
          <p:cNvGrpSpPr/>
          <p:nvPr/>
        </p:nvGrpSpPr>
        <p:grpSpPr>
          <a:xfrm rot="1707499">
            <a:off x="7086425" y="-83434"/>
            <a:ext cx="3275725" cy="2550652"/>
            <a:chOff x="6409100" y="868075"/>
            <a:chExt cx="2052526" cy="1549600"/>
          </a:xfrm>
        </p:grpSpPr>
        <p:pic>
          <p:nvPicPr>
            <p:cNvPr id="63" name="Google Shape;63;p13"/>
            <p:cNvPicPr preferRelativeResize="0"/>
            <p:nvPr/>
          </p:nvPicPr>
          <p:blipFill rotWithShape="1">
            <a:blip r:embed="rId5">
              <a:alphaModFix/>
            </a:blip>
            <a:srcRect b="43521" l="70546" r="3085" t="24455"/>
            <a:stretch/>
          </p:blipFill>
          <p:spPr>
            <a:xfrm>
              <a:off x="6409100" y="868075"/>
              <a:ext cx="2052526" cy="1549525"/>
            </a:xfrm>
            <a:prstGeom prst="rect">
              <a:avLst/>
            </a:prstGeom>
            <a:noFill/>
            <a:ln>
              <a:noFill/>
            </a:ln>
          </p:spPr>
        </p:pic>
        <p:sp>
          <p:nvSpPr>
            <p:cNvPr id="64" name="Google Shape;64;p13"/>
            <p:cNvSpPr/>
            <p:nvPr/>
          </p:nvSpPr>
          <p:spPr>
            <a:xfrm>
              <a:off x="8080325" y="2076875"/>
              <a:ext cx="243300" cy="340800"/>
            </a:xfrm>
            <a:prstGeom prst="rect">
              <a:avLst/>
            </a:prstGeom>
            <a:solidFill>
              <a:srgbClr val="B5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5" name="Google Shape;65;p13"/>
          <p:cNvSpPr/>
          <p:nvPr/>
        </p:nvSpPr>
        <p:spPr>
          <a:xfrm>
            <a:off x="5032800" y="1686175"/>
            <a:ext cx="3884100" cy="18921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6" name="Google Shape;66;p13"/>
          <p:cNvPicPr preferRelativeResize="0"/>
          <p:nvPr/>
        </p:nvPicPr>
        <p:blipFill rotWithShape="1">
          <a:blip r:embed="rId5">
            <a:alphaModFix/>
          </a:blip>
          <a:srcRect b="6263" l="84991" r="0" t="49473"/>
          <a:stretch/>
        </p:blipFill>
        <p:spPr>
          <a:xfrm rot="6704660">
            <a:off x="-596361" y="2885081"/>
            <a:ext cx="2001473" cy="3669313"/>
          </a:xfrm>
          <a:prstGeom prst="rect">
            <a:avLst/>
          </a:prstGeom>
          <a:noFill/>
          <a:ln>
            <a:noFill/>
          </a:ln>
        </p:spPr>
      </p:pic>
      <p:sp>
        <p:nvSpPr>
          <p:cNvPr id="67" name="Google Shape;67;p13"/>
          <p:cNvSpPr/>
          <p:nvPr/>
        </p:nvSpPr>
        <p:spPr>
          <a:xfrm>
            <a:off x="704075" y="0"/>
            <a:ext cx="4101600" cy="51435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3"/>
          <p:cNvSpPr txBox="1"/>
          <p:nvPr>
            <p:ph type="ctrTitle"/>
          </p:nvPr>
        </p:nvSpPr>
        <p:spPr>
          <a:xfrm>
            <a:off x="4956150" y="1262100"/>
            <a:ext cx="4037400" cy="261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96591A"/>
                </a:solidFill>
                <a:latin typeface="Sriracha"/>
                <a:ea typeface="Sriracha"/>
                <a:cs typeface="Sriracha"/>
                <a:sym typeface="Sriracha"/>
              </a:rPr>
              <a:t>1Vision Media</a:t>
            </a:r>
            <a:r>
              <a:rPr b="1" lang="en" sz="3600">
                <a:solidFill>
                  <a:srgbClr val="96591A"/>
                </a:solidFill>
                <a:latin typeface="Sriracha"/>
                <a:ea typeface="Sriracha"/>
                <a:cs typeface="Sriracha"/>
                <a:sym typeface="Sriracha"/>
              </a:rPr>
              <a:t> presents:</a:t>
            </a:r>
            <a:endParaRPr b="1" sz="3600">
              <a:solidFill>
                <a:srgbClr val="96591A"/>
              </a:solidFill>
              <a:latin typeface="Sriracha"/>
              <a:ea typeface="Sriracha"/>
              <a:cs typeface="Sriracha"/>
              <a:sym typeface="Sriracha"/>
            </a:endParaRPr>
          </a:p>
          <a:p>
            <a:pPr indent="0" lvl="0" marL="0" rtl="0" algn="ctr">
              <a:spcBef>
                <a:spcPts val="0"/>
              </a:spcBef>
              <a:spcAft>
                <a:spcPts val="0"/>
              </a:spcAft>
              <a:buNone/>
            </a:pPr>
            <a:r>
              <a:rPr b="1" lang="en" sz="3600">
                <a:solidFill>
                  <a:schemeClr val="lt1"/>
                </a:solidFill>
                <a:latin typeface="Sriracha"/>
                <a:ea typeface="Sriracha"/>
                <a:cs typeface="Sriracha"/>
                <a:sym typeface="Sriracha"/>
              </a:rPr>
              <a:t>Community on Tap</a:t>
            </a:r>
            <a:endParaRPr b="1" sz="3600">
              <a:solidFill>
                <a:schemeClr val="lt1"/>
              </a:solidFill>
              <a:latin typeface="Sriracha"/>
              <a:ea typeface="Sriracha"/>
              <a:cs typeface="Sriracha"/>
              <a:sym typeface="Sriracha"/>
            </a:endParaRPr>
          </a:p>
        </p:txBody>
      </p:sp>
      <p:pic>
        <p:nvPicPr>
          <p:cNvPr id="69" name="Google Shape;69;p13"/>
          <p:cNvPicPr preferRelativeResize="0"/>
          <p:nvPr/>
        </p:nvPicPr>
        <p:blipFill>
          <a:blip r:embed="rId6">
            <a:alphaModFix/>
          </a:blip>
          <a:stretch>
            <a:fillRect/>
          </a:stretch>
        </p:blipFill>
        <p:spPr>
          <a:xfrm>
            <a:off x="1090875" y="856250"/>
            <a:ext cx="3328000" cy="3104900"/>
          </a:xfrm>
          <a:prstGeom prst="rect">
            <a:avLst/>
          </a:prstGeom>
          <a:noFill/>
          <a:ln>
            <a:noFill/>
          </a:ln>
        </p:spPr>
      </p:pic>
      <p:pic>
        <p:nvPicPr>
          <p:cNvPr id="70" name="Google Shape;70;p13"/>
          <p:cNvPicPr preferRelativeResize="0"/>
          <p:nvPr/>
        </p:nvPicPr>
        <p:blipFill>
          <a:blip r:embed="rId7">
            <a:alphaModFix/>
          </a:blip>
          <a:stretch>
            <a:fillRect/>
          </a:stretch>
        </p:blipFill>
        <p:spPr>
          <a:xfrm>
            <a:off x="10667150" y="-956975"/>
            <a:ext cx="2094374" cy="2094374"/>
          </a:xfrm>
          <a:prstGeom prst="rect">
            <a:avLst/>
          </a:prstGeom>
          <a:noFill/>
          <a:ln>
            <a:noFill/>
          </a:ln>
        </p:spPr>
      </p:pic>
      <p:sp>
        <p:nvSpPr>
          <p:cNvPr id="71" name="Google Shape;71;p13"/>
          <p:cNvSpPr txBox="1"/>
          <p:nvPr/>
        </p:nvSpPr>
        <p:spPr>
          <a:xfrm>
            <a:off x="634325" y="4211050"/>
            <a:ext cx="4241100" cy="85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2"/>
                </a:solidFill>
              </a:rPr>
              <a:t>BUS 465-602 Group 1:</a:t>
            </a:r>
            <a:endParaRPr>
              <a:solidFill>
                <a:schemeClr val="lt2"/>
              </a:solidFill>
            </a:endParaRPr>
          </a:p>
          <a:p>
            <a:pPr indent="0" lvl="0" marL="0" rtl="0" algn="ctr">
              <a:spcBef>
                <a:spcPts val="0"/>
              </a:spcBef>
              <a:spcAft>
                <a:spcPts val="0"/>
              </a:spcAft>
              <a:buNone/>
            </a:pPr>
            <a:r>
              <a:rPr lang="en">
                <a:solidFill>
                  <a:schemeClr val="lt2"/>
                </a:solidFill>
              </a:rPr>
              <a:t>Emma Collins, Aaryan Sharma, Gloria Chien, Ashton Zuburg, Isabelle Huller, Emma Chapman, Ryan Christensen</a:t>
            </a:r>
            <a:endParaRPr>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4"/>
          <p:cNvPicPr preferRelativeResize="0"/>
          <p:nvPr/>
        </p:nvPicPr>
        <p:blipFill>
          <a:blip r:embed="rId4">
            <a:alphaModFix/>
          </a:blip>
          <a:stretch>
            <a:fillRect/>
          </a:stretch>
        </p:blipFill>
        <p:spPr>
          <a:xfrm>
            <a:off x="6452875" y="2310000"/>
            <a:ext cx="4127000" cy="4127000"/>
          </a:xfrm>
          <a:prstGeom prst="rect">
            <a:avLst/>
          </a:prstGeom>
          <a:noFill/>
          <a:ln>
            <a:noFill/>
          </a:ln>
        </p:spPr>
      </p:pic>
      <p:sp>
        <p:nvSpPr>
          <p:cNvPr id="77" name="Google Shape;77;p14"/>
          <p:cNvSpPr/>
          <p:nvPr/>
        </p:nvSpPr>
        <p:spPr>
          <a:xfrm>
            <a:off x="435725" y="1114625"/>
            <a:ext cx="4266000" cy="3510000"/>
          </a:xfrm>
          <a:prstGeom prst="roundRect">
            <a:avLst>
              <a:gd fmla="val 9195"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4"/>
          <p:cNvSpPr txBox="1"/>
          <p:nvPr>
            <p:ph idx="1" type="body"/>
          </p:nvPr>
        </p:nvSpPr>
        <p:spPr>
          <a:xfrm>
            <a:off x="212800" y="1098825"/>
            <a:ext cx="4215300" cy="3416400"/>
          </a:xfrm>
          <a:prstGeom prst="rect">
            <a:avLst/>
          </a:prstGeom>
        </p:spPr>
        <p:txBody>
          <a:bodyPr anchorCtr="0" anchor="t" bIns="91425" lIns="91425" spcFirstLastPara="1" rIns="91425" wrap="square" tIns="91425">
            <a:noAutofit/>
          </a:bodyPr>
          <a:lstStyle/>
          <a:p>
            <a:pPr indent="0" lvl="0" marL="342900" rtl="0" algn="l">
              <a:lnSpc>
                <a:spcPct val="100000"/>
              </a:lnSpc>
              <a:spcBef>
                <a:spcPts val="0"/>
              </a:spcBef>
              <a:spcAft>
                <a:spcPts val="0"/>
              </a:spcAft>
              <a:buNone/>
            </a:pPr>
            <a:r>
              <a:rPr b="1" lang="en" sz="2000">
                <a:solidFill>
                  <a:schemeClr val="dk1"/>
                </a:solidFill>
                <a:latin typeface="Itim"/>
                <a:ea typeface="Itim"/>
                <a:cs typeface="Itim"/>
                <a:sym typeface="Itim"/>
              </a:rPr>
              <a:t>Research and Insights</a:t>
            </a:r>
            <a:endParaRPr b="1" sz="2000">
              <a:solidFill>
                <a:schemeClr val="dk1"/>
              </a:solidFill>
              <a:latin typeface="Itim"/>
              <a:ea typeface="Itim"/>
              <a:cs typeface="Itim"/>
              <a:sym typeface="Itim"/>
            </a:endParaRPr>
          </a:p>
          <a:p>
            <a:pPr indent="-311150" lvl="1" marL="742950" rtl="0" algn="l">
              <a:lnSpc>
                <a:spcPct val="100000"/>
              </a:lnSpc>
              <a:spcBef>
                <a:spcPts val="280"/>
              </a:spcBef>
              <a:spcAft>
                <a:spcPts val="0"/>
              </a:spcAft>
              <a:buClr>
                <a:schemeClr val="dk1"/>
              </a:buClr>
              <a:buSzPts val="1800"/>
              <a:buFont typeface="Itim"/>
              <a:buChar char="–"/>
            </a:pPr>
            <a:r>
              <a:rPr lang="en" sz="1800">
                <a:solidFill>
                  <a:schemeClr val="dk1"/>
                </a:solidFill>
                <a:latin typeface="Itim"/>
                <a:ea typeface="Itim"/>
                <a:cs typeface="Itim"/>
                <a:sym typeface="Itim"/>
              </a:rPr>
              <a:t>East Bower Core Brand Associations</a:t>
            </a:r>
            <a:endParaRPr sz="1800">
              <a:solidFill>
                <a:schemeClr val="dk1"/>
              </a:solidFill>
              <a:latin typeface="Itim"/>
              <a:ea typeface="Itim"/>
              <a:cs typeface="Itim"/>
              <a:sym typeface="Itim"/>
            </a:endParaRPr>
          </a:p>
          <a:p>
            <a:pPr indent="-311150" lvl="1" marL="742950" rtl="0" algn="l">
              <a:lnSpc>
                <a:spcPct val="100000"/>
              </a:lnSpc>
              <a:spcBef>
                <a:spcPts val="280"/>
              </a:spcBef>
              <a:spcAft>
                <a:spcPts val="0"/>
              </a:spcAft>
              <a:buClr>
                <a:schemeClr val="dk1"/>
              </a:buClr>
              <a:buSzPts val="1800"/>
              <a:buFont typeface="Itim"/>
              <a:buChar char="–"/>
            </a:pPr>
            <a:r>
              <a:rPr lang="en" sz="1800">
                <a:solidFill>
                  <a:schemeClr val="dk1"/>
                </a:solidFill>
                <a:latin typeface="Itim"/>
                <a:ea typeface="Itim"/>
                <a:cs typeface="Itim"/>
                <a:sym typeface="Itim"/>
              </a:rPr>
              <a:t>“What to post, where, and why?”</a:t>
            </a:r>
            <a:endParaRPr sz="1800">
              <a:solidFill>
                <a:schemeClr val="dk1"/>
              </a:solidFill>
              <a:latin typeface="Itim"/>
              <a:ea typeface="Itim"/>
              <a:cs typeface="Itim"/>
              <a:sym typeface="Itim"/>
            </a:endParaRPr>
          </a:p>
          <a:p>
            <a:pPr indent="-311150" lvl="1" marL="742950" rtl="0" algn="l">
              <a:lnSpc>
                <a:spcPct val="100000"/>
              </a:lnSpc>
              <a:spcBef>
                <a:spcPts val="280"/>
              </a:spcBef>
              <a:spcAft>
                <a:spcPts val="0"/>
              </a:spcAft>
              <a:buClr>
                <a:schemeClr val="dk1"/>
              </a:buClr>
              <a:buSzPts val="1800"/>
              <a:buFont typeface="Itim"/>
              <a:buChar char="–"/>
            </a:pPr>
            <a:r>
              <a:rPr lang="en" sz="1800">
                <a:solidFill>
                  <a:schemeClr val="dk1"/>
                </a:solidFill>
                <a:latin typeface="Itim"/>
                <a:ea typeface="Itim"/>
                <a:cs typeface="Itim"/>
                <a:sym typeface="Itim"/>
              </a:rPr>
              <a:t>Insight</a:t>
            </a:r>
            <a:endParaRPr sz="1800">
              <a:solidFill>
                <a:schemeClr val="dk1"/>
              </a:solidFill>
              <a:latin typeface="Itim"/>
              <a:ea typeface="Itim"/>
              <a:cs typeface="Itim"/>
              <a:sym typeface="Itim"/>
            </a:endParaRPr>
          </a:p>
          <a:p>
            <a:pPr indent="-311150" lvl="1" marL="742950" rtl="0" algn="l">
              <a:lnSpc>
                <a:spcPct val="100000"/>
              </a:lnSpc>
              <a:spcBef>
                <a:spcPts val="280"/>
              </a:spcBef>
              <a:spcAft>
                <a:spcPts val="0"/>
              </a:spcAft>
              <a:buClr>
                <a:schemeClr val="dk1"/>
              </a:buClr>
              <a:buSzPts val="1800"/>
              <a:buFont typeface="Itim"/>
              <a:buChar char="–"/>
            </a:pPr>
            <a:r>
              <a:rPr lang="en" sz="1800">
                <a:solidFill>
                  <a:schemeClr val="dk1"/>
                </a:solidFill>
                <a:latin typeface="Itim"/>
                <a:ea typeface="Itim"/>
                <a:cs typeface="Itim"/>
                <a:sym typeface="Itim"/>
              </a:rPr>
              <a:t>Customer </a:t>
            </a:r>
            <a:r>
              <a:rPr lang="en" sz="1800">
                <a:solidFill>
                  <a:schemeClr val="dk1"/>
                </a:solidFill>
                <a:latin typeface="Itim"/>
                <a:ea typeface="Itim"/>
                <a:cs typeface="Itim"/>
                <a:sym typeface="Itim"/>
              </a:rPr>
              <a:t>Personas</a:t>
            </a:r>
            <a:endParaRPr sz="1800">
              <a:solidFill>
                <a:schemeClr val="dk1"/>
              </a:solidFill>
              <a:latin typeface="Itim"/>
              <a:ea typeface="Itim"/>
              <a:cs typeface="Itim"/>
              <a:sym typeface="Itim"/>
            </a:endParaRPr>
          </a:p>
          <a:p>
            <a:pPr indent="0" lvl="0" marL="742950" rtl="0" algn="l">
              <a:lnSpc>
                <a:spcPct val="100000"/>
              </a:lnSpc>
              <a:spcBef>
                <a:spcPts val="280"/>
              </a:spcBef>
              <a:spcAft>
                <a:spcPts val="0"/>
              </a:spcAft>
              <a:buNone/>
            </a:pPr>
            <a:r>
              <a:t/>
            </a:r>
            <a:endParaRPr sz="1600">
              <a:solidFill>
                <a:schemeClr val="dk1"/>
              </a:solidFill>
              <a:latin typeface="Itim"/>
              <a:ea typeface="Itim"/>
              <a:cs typeface="Itim"/>
              <a:sym typeface="Itim"/>
            </a:endParaRPr>
          </a:p>
          <a:p>
            <a:pPr indent="0" lvl="0" marL="342900" rtl="0" algn="l">
              <a:lnSpc>
                <a:spcPct val="100000"/>
              </a:lnSpc>
              <a:spcBef>
                <a:spcPts val="280"/>
              </a:spcBef>
              <a:spcAft>
                <a:spcPts val="0"/>
              </a:spcAft>
              <a:buNone/>
            </a:pPr>
            <a:r>
              <a:rPr b="1" lang="en" sz="2000">
                <a:solidFill>
                  <a:schemeClr val="dk1"/>
                </a:solidFill>
                <a:latin typeface="Itim"/>
                <a:ea typeface="Itim"/>
                <a:cs typeface="Itim"/>
                <a:sym typeface="Itim"/>
              </a:rPr>
              <a:t>Creative</a:t>
            </a:r>
            <a:endParaRPr b="1" sz="2000">
              <a:solidFill>
                <a:schemeClr val="dk1"/>
              </a:solidFill>
              <a:latin typeface="Itim"/>
              <a:ea typeface="Itim"/>
              <a:cs typeface="Itim"/>
              <a:sym typeface="Itim"/>
            </a:endParaRPr>
          </a:p>
          <a:p>
            <a:pPr indent="-285750" lvl="1" marL="742950" rtl="0" algn="l">
              <a:lnSpc>
                <a:spcPct val="100000"/>
              </a:lnSpc>
              <a:spcBef>
                <a:spcPts val="280"/>
              </a:spcBef>
              <a:spcAft>
                <a:spcPts val="0"/>
              </a:spcAft>
              <a:buClr>
                <a:schemeClr val="dk1"/>
              </a:buClr>
              <a:buSzPts val="1800"/>
              <a:buFont typeface="Itim"/>
              <a:buChar char="–"/>
            </a:pPr>
            <a:r>
              <a:rPr lang="en" sz="1800">
                <a:solidFill>
                  <a:schemeClr val="dk1"/>
                </a:solidFill>
                <a:latin typeface="Itim"/>
                <a:ea typeface="Itim"/>
                <a:cs typeface="Itim"/>
                <a:sym typeface="Itim"/>
              </a:rPr>
              <a:t>Instagram Revamp</a:t>
            </a:r>
            <a:endParaRPr sz="1800">
              <a:solidFill>
                <a:schemeClr val="dk1"/>
              </a:solidFill>
              <a:latin typeface="Itim"/>
              <a:ea typeface="Itim"/>
              <a:cs typeface="Itim"/>
              <a:sym typeface="Itim"/>
            </a:endParaRPr>
          </a:p>
          <a:p>
            <a:pPr indent="-311150" lvl="1" marL="742950" rtl="0" algn="l">
              <a:lnSpc>
                <a:spcPct val="100000"/>
              </a:lnSpc>
              <a:spcBef>
                <a:spcPts val="280"/>
              </a:spcBef>
              <a:spcAft>
                <a:spcPts val="0"/>
              </a:spcAft>
              <a:buClr>
                <a:schemeClr val="dk1"/>
              </a:buClr>
              <a:buSzPts val="2200"/>
              <a:buFont typeface="Itim"/>
              <a:buChar char="–"/>
            </a:pPr>
            <a:r>
              <a:rPr lang="en" sz="1800">
                <a:solidFill>
                  <a:schemeClr val="dk1"/>
                </a:solidFill>
                <a:latin typeface="Itim"/>
                <a:ea typeface="Itim"/>
                <a:cs typeface="Itim"/>
                <a:sym typeface="Itim"/>
              </a:rPr>
              <a:t>Customer Interaction</a:t>
            </a:r>
            <a:endParaRPr sz="1800">
              <a:solidFill>
                <a:schemeClr val="dk1"/>
              </a:solidFill>
              <a:latin typeface="Itim"/>
              <a:ea typeface="Itim"/>
              <a:cs typeface="Itim"/>
              <a:sym typeface="Itim"/>
            </a:endParaRPr>
          </a:p>
          <a:p>
            <a:pPr indent="-285750" lvl="1" marL="742950" rtl="0" algn="l">
              <a:lnSpc>
                <a:spcPct val="100000"/>
              </a:lnSpc>
              <a:spcBef>
                <a:spcPts val="280"/>
              </a:spcBef>
              <a:spcAft>
                <a:spcPts val="0"/>
              </a:spcAft>
              <a:buClr>
                <a:schemeClr val="dk1"/>
              </a:buClr>
              <a:buSzPts val="1800"/>
              <a:buFont typeface="Itim"/>
              <a:buChar char="–"/>
            </a:pPr>
            <a:r>
              <a:rPr lang="en" sz="1800">
                <a:solidFill>
                  <a:schemeClr val="dk1"/>
                </a:solidFill>
                <a:latin typeface="Itim"/>
                <a:ea typeface="Itim"/>
                <a:cs typeface="Itim"/>
                <a:sym typeface="Itim"/>
              </a:rPr>
              <a:t>Behind the scenes</a:t>
            </a:r>
            <a:endParaRPr sz="1800">
              <a:solidFill>
                <a:schemeClr val="dk1"/>
              </a:solidFill>
              <a:latin typeface="Itim"/>
              <a:ea typeface="Itim"/>
              <a:cs typeface="Itim"/>
              <a:sym typeface="Itim"/>
            </a:endParaRPr>
          </a:p>
        </p:txBody>
      </p:sp>
      <p:sp>
        <p:nvSpPr>
          <p:cNvPr id="79" name="Google Shape;79;p14"/>
          <p:cNvSpPr txBox="1"/>
          <p:nvPr>
            <p:ph type="title"/>
          </p:nvPr>
        </p:nvSpPr>
        <p:spPr>
          <a:xfrm>
            <a:off x="-60775" y="215850"/>
            <a:ext cx="9144000" cy="5727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sz="3800">
                <a:solidFill>
                  <a:srgbClr val="96591A"/>
                </a:solidFill>
                <a:latin typeface="Sriracha"/>
                <a:ea typeface="Sriracha"/>
                <a:cs typeface="Sriracha"/>
                <a:sym typeface="Sriracha"/>
              </a:rPr>
              <a:t>Agenda</a:t>
            </a:r>
            <a:endParaRPr sz="3800">
              <a:solidFill>
                <a:srgbClr val="96591A"/>
              </a:solidFill>
              <a:latin typeface="Sriracha"/>
              <a:ea typeface="Sriracha"/>
              <a:cs typeface="Sriracha"/>
              <a:sym typeface="Sriracha"/>
            </a:endParaRPr>
          </a:p>
        </p:txBody>
      </p:sp>
      <p:pic>
        <p:nvPicPr>
          <p:cNvPr id="80" name="Google Shape;80;p14"/>
          <p:cNvPicPr preferRelativeResize="0"/>
          <p:nvPr/>
        </p:nvPicPr>
        <p:blipFill>
          <a:blip r:embed="rId5">
            <a:alphaModFix/>
          </a:blip>
          <a:stretch>
            <a:fillRect/>
          </a:stretch>
        </p:blipFill>
        <p:spPr>
          <a:xfrm>
            <a:off x="5163900" y="334175"/>
            <a:ext cx="3560600" cy="4416250"/>
          </a:xfrm>
          <a:prstGeom prst="rect">
            <a:avLst/>
          </a:prstGeom>
          <a:noFill/>
          <a:ln>
            <a:noFill/>
          </a:ln>
        </p:spPr>
      </p:pic>
      <p:cxnSp>
        <p:nvCxnSpPr>
          <p:cNvPr id="81" name="Google Shape;81;p14"/>
          <p:cNvCxnSpPr/>
          <p:nvPr/>
        </p:nvCxnSpPr>
        <p:spPr>
          <a:xfrm>
            <a:off x="591250" y="1501700"/>
            <a:ext cx="3441300" cy="9300"/>
          </a:xfrm>
          <a:prstGeom prst="straightConnector1">
            <a:avLst/>
          </a:prstGeom>
          <a:noFill/>
          <a:ln cap="flat" cmpd="sng" w="9525">
            <a:solidFill>
              <a:schemeClr val="dk2"/>
            </a:solidFill>
            <a:prstDash val="solid"/>
            <a:round/>
            <a:headEnd len="med" w="med" type="none"/>
            <a:tailEnd len="med" w="med" type="none"/>
          </a:ln>
        </p:spPr>
      </p:cxnSp>
      <p:cxnSp>
        <p:nvCxnSpPr>
          <p:cNvPr id="82" name="Google Shape;82;p14"/>
          <p:cNvCxnSpPr/>
          <p:nvPr/>
        </p:nvCxnSpPr>
        <p:spPr>
          <a:xfrm>
            <a:off x="586600" y="3369100"/>
            <a:ext cx="3450600" cy="14100"/>
          </a:xfrm>
          <a:prstGeom prst="straightConnector1">
            <a:avLst/>
          </a:prstGeom>
          <a:noFill/>
          <a:ln cap="flat" cmpd="sng" w="9525">
            <a:solidFill>
              <a:schemeClr val="dk2"/>
            </a:solidFill>
            <a:prstDash val="solid"/>
            <a:round/>
            <a:headEnd len="med" w="med" type="none"/>
            <a:tailEnd len="med" w="med" type="none"/>
          </a:ln>
        </p:spPr>
      </p:cxnSp>
      <p:pic>
        <p:nvPicPr>
          <p:cNvPr id="83" name="Google Shape;83;p14"/>
          <p:cNvPicPr preferRelativeResize="0"/>
          <p:nvPr/>
        </p:nvPicPr>
        <p:blipFill rotWithShape="1">
          <a:blip r:embed="rId6">
            <a:alphaModFix/>
          </a:blip>
          <a:srcRect b="6263" l="84991" r="0" t="49473"/>
          <a:stretch/>
        </p:blipFill>
        <p:spPr>
          <a:xfrm flipH="1" rot="-1536322">
            <a:off x="-918359" y="2648497"/>
            <a:ext cx="1978967" cy="3628069"/>
          </a:xfrm>
          <a:prstGeom prst="rect">
            <a:avLst/>
          </a:prstGeom>
          <a:noFill/>
          <a:ln>
            <a:noFill/>
          </a:ln>
        </p:spPr>
      </p:pic>
      <p:pic>
        <p:nvPicPr>
          <p:cNvPr id="84" name="Google Shape;84;p14"/>
          <p:cNvPicPr preferRelativeResize="0"/>
          <p:nvPr/>
        </p:nvPicPr>
        <p:blipFill>
          <a:blip r:embed="rId7">
            <a:alphaModFix/>
          </a:blip>
          <a:stretch>
            <a:fillRect/>
          </a:stretch>
        </p:blipFill>
        <p:spPr>
          <a:xfrm flipH="1" rot="2156366">
            <a:off x="6454116" y="-825662"/>
            <a:ext cx="3461543" cy="265571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pSp>
        <p:nvGrpSpPr>
          <p:cNvPr id="89" name="Google Shape;89;p15"/>
          <p:cNvGrpSpPr/>
          <p:nvPr/>
        </p:nvGrpSpPr>
        <p:grpSpPr>
          <a:xfrm rot="10790104">
            <a:off x="5208703" y="2291670"/>
            <a:ext cx="4349321" cy="3271516"/>
            <a:chOff x="6409100" y="868075"/>
            <a:chExt cx="2052526" cy="1549600"/>
          </a:xfrm>
        </p:grpSpPr>
        <p:pic>
          <p:nvPicPr>
            <p:cNvPr id="90" name="Google Shape;90;p15"/>
            <p:cNvPicPr preferRelativeResize="0"/>
            <p:nvPr/>
          </p:nvPicPr>
          <p:blipFill rotWithShape="1">
            <a:blip r:embed="rId3">
              <a:alphaModFix/>
            </a:blip>
            <a:srcRect b="43521" l="70546" r="3085" t="24455"/>
            <a:stretch/>
          </p:blipFill>
          <p:spPr>
            <a:xfrm>
              <a:off x="6409100" y="868075"/>
              <a:ext cx="2052526" cy="1549525"/>
            </a:xfrm>
            <a:prstGeom prst="rect">
              <a:avLst/>
            </a:prstGeom>
            <a:noFill/>
            <a:ln>
              <a:noFill/>
            </a:ln>
          </p:spPr>
        </p:pic>
        <p:sp>
          <p:nvSpPr>
            <p:cNvPr id="91" name="Google Shape;91;p15"/>
            <p:cNvSpPr/>
            <p:nvPr/>
          </p:nvSpPr>
          <p:spPr>
            <a:xfrm>
              <a:off x="8080325" y="2076875"/>
              <a:ext cx="243300" cy="340800"/>
            </a:xfrm>
            <a:prstGeom prst="rect">
              <a:avLst/>
            </a:prstGeom>
            <a:solidFill>
              <a:srgbClr val="B5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92" name="Google Shape;92;p15"/>
          <p:cNvPicPr preferRelativeResize="0"/>
          <p:nvPr/>
        </p:nvPicPr>
        <p:blipFill>
          <a:blip r:embed="rId4">
            <a:alphaModFix/>
          </a:blip>
          <a:stretch>
            <a:fillRect/>
          </a:stretch>
        </p:blipFill>
        <p:spPr>
          <a:xfrm>
            <a:off x="-671413" y="-295950"/>
            <a:ext cx="4277125" cy="3418000"/>
          </a:xfrm>
          <a:prstGeom prst="rect">
            <a:avLst/>
          </a:prstGeom>
          <a:noFill/>
          <a:ln>
            <a:noFill/>
          </a:ln>
        </p:spPr>
      </p:pic>
      <p:sp>
        <p:nvSpPr>
          <p:cNvPr id="93" name="Google Shape;93;p15"/>
          <p:cNvSpPr txBox="1"/>
          <p:nvPr>
            <p:ph type="title"/>
          </p:nvPr>
        </p:nvSpPr>
        <p:spPr>
          <a:xfrm>
            <a:off x="3138900" y="281700"/>
            <a:ext cx="2866200" cy="9831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sz="5600">
                <a:solidFill>
                  <a:srgbClr val="2E8051"/>
                </a:solidFill>
                <a:latin typeface="Sriracha"/>
                <a:ea typeface="Sriracha"/>
                <a:cs typeface="Sriracha"/>
                <a:sym typeface="Sriracha"/>
              </a:rPr>
              <a:t>Scope</a:t>
            </a:r>
            <a:endParaRPr sz="5600">
              <a:solidFill>
                <a:srgbClr val="2E8051"/>
              </a:solidFill>
              <a:latin typeface="Sriracha"/>
              <a:ea typeface="Sriracha"/>
              <a:cs typeface="Sriracha"/>
              <a:sym typeface="Sriracha"/>
            </a:endParaRPr>
          </a:p>
        </p:txBody>
      </p:sp>
      <p:sp>
        <p:nvSpPr>
          <p:cNvPr id="94" name="Google Shape;94;p15"/>
          <p:cNvSpPr txBox="1"/>
          <p:nvPr/>
        </p:nvSpPr>
        <p:spPr>
          <a:xfrm>
            <a:off x="989100" y="1963050"/>
            <a:ext cx="7165800" cy="121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000">
                <a:solidFill>
                  <a:srgbClr val="96591A"/>
                </a:solidFill>
                <a:latin typeface="Itim"/>
                <a:ea typeface="Itim"/>
                <a:cs typeface="Itim"/>
                <a:sym typeface="Itim"/>
              </a:rPr>
              <a:t>Social Media</a:t>
            </a:r>
            <a:endParaRPr sz="4000">
              <a:solidFill>
                <a:srgbClr val="96591A"/>
              </a:solidFill>
              <a:latin typeface="Itim"/>
              <a:ea typeface="Itim"/>
              <a:cs typeface="Itim"/>
              <a:sym typeface="Itim"/>
            </a:endParaRPr>
          </a:p>
          <a:p>
            <a:pPr indent="0" lvl="0" marL="0" rtl="0" algn="ctr">
              <a:spcBef>
                <a:spcPts val="0"/>
              </a:spcBef>
              <a:spcAft>
                <a:spcPts val="0"/>
              </a:spcAft>
              <a:buClr>
                <a:schemeClr val="dk1"/>
              </a:buClr>
              <a:buSzPts val="1100"/>
              <a:buFont typeface="Arial"/>
              <a:buNone/>
            </a:pPr>
            <a:r>
              <a:rPr lang="en" sz="4000">
                <a:solidFill>
                  <a:srgbClr val="96591A"/>
                </a:solidFill>
                <a:latin typeface="Itim"/>
                <a:ea typeface="Itim"/>
                <a:cs typeface="Itim"/>
                <a:sym typeface="Itim"/>
              </a:rPr>
              <a:t>Where, why, and at what level?</a:t>
            </a:r>
            <a:endParaRPr sz="4000">
              <a:solidFill>
                <a:srgbClr val="96591A"/>
              </a:solidFill>
              <a:latin typeface="Itim"/>
              <a:ea typeface="Itim"/>
              <a:cs typeface="Itim"/>
              <a:sym typeface="Iti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190050" y="152500"/>
            <a:ext cx="9144000" cy="5727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rgbClr val="96591A"/>
                </a:solidFill>
                <a:latin typeface="Sriracha"/>
                <a:ea typeface="Sriracha"/>
                <a:cs typeface="Sriracha"/>
                <a:sym typeface="Sriracha"/>
              </a:rPr>
              <a:t>Core Brand Associations</a:t>
            </a:r>
            <a:endParaRPr>
              <a:solidFill>
                <a:srgbClr val="96591A"/>
              </a:solidFill>
              <a:latin typeface="Sriracha"/>
              <a:ea typeface="Sriracha"/>
              <a:cs typeface="Sriracha"/>
              <a:sym typeface="Sriracha"/>
            </a:endParaRPr>
          </a:p>
        </p:txBody>
      </p:sp>
      <p:sp>
        <p:nvSpPr>
          <p:cNvPr id="100" name="Google Shape;100;p16"/>
          <p:cNvSpPr txBox="1"/>
          <p:nvPr/>
        </p:nvSpPr>
        <p:spPr>
          <a:xfrm>
            <a:off x="261300" y="952775"/>
            <a:ext cx="3495300" cy="37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38761D"/>
                </a:solidFill>
                <a:latin typeface="Itim"/>
                <a:ea typeface="Itim"/>
                <a:cs typeface="Itim"/>
                <a:sym typeface="Itim"/>
              </a:rPr>
              <a:t>Values</a:t>
            </a:r>
            <a:endParaRPr b="1" sz="2200">
              <a:solidFill>
                <a:srgbClr val="38761D"/>
              </a:solidFill>
              <a:latin typeface="Itim"/>
              <a:ea typeface="Itim"/>
              <a:cs typeface="Itim"/>
              <a:sym typeface="Itim"/>
            </a:endParaRPr>
          </a:p>
          <a:p>
            <a:pPr indent="0" lvl="0" marL="0" rtl="0" algn="l">
              <a:spcBef>
                <a:spcPts val="0"/>
              </a:spcBef>
              <a:spcAft>
                <a:spcPts val="0"/>
              </a:spcAft>
              <a:buNone/>
            </a:pPr>
            <a:r>
              <a:rPr lang="en" sz="2000">
                <a:solidFill>
                  <a:srgbClr val="FFDFAC"/>
                </a:solidFill>
                <a:latin typeface="Itim"/>
                <a:ea typeface="Itim"/>
                <a:cs typeface="Itim"/>
                <a:sym typeface="Itim"/>
              </a:rPr>
              <a:t> </a:t>
            </a:r>
            <a:r>
              <a:rPr lang="en" sz="2000">
                <a:solidFill>
                  <a:srgbClr val="FFDFAC"/>
                </a:solidFill>
                <a:highlight>
                  <a:srgbClr val="FFDFAC"/>
                </a:highlight>
                <a:latin typeface="Itim"/>
                <a:ea typeface="Itim"/>
                <a:cs typeface="Itim"/>
                <a:sym typeface="Itim"/>
              </a:rPr>
              <a:t>•</a:t>
            </a:r>
            <a:r>
              <a:rPr lang="en" sz="2000">
                <a:solidFill>
                  <a:schemeClr val="dk1"/>
                </a:solidFill>
                <a:latin typeface="Itim"/>
                <a:ea typeface="Itim"/>
                <a:cs typeface="Itim"/>
                <a:sym typeface="Itim"/>
              </a:rPr>
              <a:t>Transparency, Friendly, Inclusivity</a:t>
            </a:r>
            <a:endParaRPr sz="2000">
              <a:solidFill>
                <a:schemeClr val="dk1"/>
              </a:solidFill>
              <a:latin typeface="Itim"/>
              <a:ea typeface="Itim"/>
              <a:cs typeface="Itim"/>
              <a:sym typeface="Itim"/>
            </a:endParaRPr>
          </a:p>
          <a:p>
            <a:pPr indent="0" lvl="0" marL="0" rtl="0" algn="l">
              <a:spcBef>
                <a:spcPts val="0"/>
              </a:spcBef>
              <a:spcAft>
                <a:spcPts val="0"/>
              </a:spcAft>
              <a:buNone/>
            </a:pPr>
            <a:r>
              <a:t/>
            </a:r>
            <a:endParaRPr sz="2000">
              <a:latin typeface="Itim"/>
              <a:ea typeface="Itim"/>
              <a:cs typeface="Itim"/>
              <a:sym typeface="Itim"/>
            </a:endParaRPr>
          </a:p>
          <a:p>
            <a:pPr indent="0" lvl="0" marL="0" rtl="0" algn="l">
              <a:spcBef>
                <a:spcPts val="0"/>
              </a:spcBef>
              <a:spcAft>
                <a:spcPts val="0"/>
              </a:spcAft>
              <a:buNone/>
            </a:pPr>
            <a:r>
              <a:rPr b="1" lang="en" sz="2200">
                <a:solidFill>
                  <a:srgbClr val="38761D"/>
                </a:solidFill>
                <a:latin typeface="Itim"/>
                <a:ea typeface="Itim"/>
                <a:cs typeface="Itim"/>
                <a:sym typeface="Itim"/>
              </a:rPr>
              <a:t>Atmosphere</a:t>
            </a:r>
            <a:endParaRPr sz="2200">
              <a:solidFill>
                <a:srgbClr val="38761D"/>
              </a:solidFill>
              <a:latin typeface="Itim"/>
              <a:ea typeface="Itim"/>
              <a:cs typeface="Itim"/>
              <a:sym typeface="Itim"/>
            </a:endParaRPr>
          </a:p>
          <a:p>
            <a:pPr indent="0" lvl="0" marL="0" rtl="0" algn="l">
              <a:spcBef>
                <a:spcPts val="0"/>
              </a:spcBef>
              <a:spcAft>
                <a:spcPts val="0"/>
              </a:spcAft>
              <a:buNone/>
            </a:pPr>
            <a:r>
              <a:rPr lang="en" sz="2000">
                <a:solidFill>
                  <a:srgbClr val="FFDFAC"/>
                </a:solidFill>
                <a:latin typeface="Itim"/>
                <a:ea typeface="Itim"/>
                <a:cs typeface="Itim"/>
                <a:sym typeface="Itim"/>
              </a:rPr>
              <a:t> </a:t>
            </a:r>
            <a:r>
              <a:rPr lang="en" sz="2000">
                <a:solidFill>
                  <a:srgbClr val="FFDFAC"/>
                </a:solidFill>
                <a:highlight>
                  <a:srgbClr val="FFDFAC"/>
                </a:highlight>
                <a:latin typeface="Itim"/>
                <a:ea typeface="Itim"/>
                <a:cs typeface="Itim"/>
                <a:sym typeface="Itim"/>
              </a:rPr>
              <a:t>•</a:t>
            </a:r>
            <a:r>
              <a:rPr lang="en" sz="2000">
                <a:solidFill>
                  <a:schemeClr val="dk1"/>
                </a:solidFill>
                <a:latin typeface="Itim"/>
                <a:ea typeface="Itim"/>
                <a:cs typeface="Itim"/>
                <a:sym typeface="Itim"/>
              </a:rPr>
              <a:t>Outdoor, Instagrammable, Music</a:t>
            </a:r>
            <a:endParaRPr sz="2000">
              <a:solidFill>
                <a:schemeClr val="dk1"/>
              </a:solidFill>
              <a:latin typeface="Itim"/>
              <a:ea typeface="Itim"/>
              <a:cs typeface="Itim"/>
              <a:sym typeface="Itim"/>
            </a:endParaRPr>
          </a:p>
          <a:p>
            <a:pPr indent="0" lvl="0" marL="0" rtl="0" algn="l">
              <a:spcBef>
                <a:spcPts val="0"/>
              </a:spcBef>
              <a:spcAft>
                <a:spcPts val="0"/>
              </a:spcAft>
              <a:buNone/>
            </a:pPr>
            <a:r>
              <a:t/>
            </a:r>
            <a:endParaRPr sz="2000">
              <a:solidFill>
                <a:schemeClr val="dk1"/>
              </a:solidFill>
              <a:latin typeface="Itim"/>
              <a:ea typeface="Itim"/>
              <a:cs typeface="Itim"/>
              <a:sym typeface="Itim"/>
            </a:endParaRPr>
          </a:p>
          <a:p>
            <a:pPr indent="0" lvl="0" marL="0" rtl="0" algn="l">
              <a:spcBef>
                <a:spcPts val="0"/>
              </a:spcBef>
              <a:spcAft>
                <a:spcPts val="0"/>
              </a:spcAft>
              <a:buNone/>
            </a:pPr>
            <a:r>
              <a:rPr b="1" lang="en" sz="2200">
                <a:solidFill>
                  <a:srgbClr val="38761D"/>
                </a:solidFill>
                <a:latin typeface="Itim"/>
                <a:ea typeface="Itim"/>
                <a:cs typeface="Itim"/>
                <a:sym typeface="Itim"/>
              </a:rPr>
              <a:t>Cider</a:t>
            </a:r>
            <a:endParaRPr b="1" sz="2200">
              <a:solidFill>
                <a:srgbClr val="38761D"/>
              </a:solidFill>
              <a:latin typeface="Itim"/>
              <a:ea typeface="Itim"/>
              <a:cs typeface="Itim"/>
              <a:sym typeface="Itim"/>
            </a:endParaRPr>
          </a:p>
          <a:p>
            <a:pPr indent="0" lvl="0" marL="0" rtl="0" algn="l">
              <a:spcBef>
                <a:spcPts val="0"/>
              </a:spcBef>
              <a:spcAft>
                <a:spcPts val="0"/>
              </a:spcAft>
              <a:buNone/>
            </a:pPr>
            <a:r>
              <a:rPr lang="en" sz="2000">
                <a:solidFill>
                  <a:srgbClr val="FFDFAC"/>
                </a:solidFill>
                <a:latin typeface="Itim"/>
                <a:ea typeface="Itim"/>
                <a:cs typeface="Itim"/>
                <a:sym typeface="Itim"/>
              </a:rPr>
              <a:t> </a:t>
            </a:r>
            <a:r>
              <a:rPr lang="en" sz="2000">
                <a:solidFill>
                  <a:srgbClr val="FFDFAC"/>
                </a:solidFill>
                <a:highlight>
                  <a:srgbClr val="FFDFAC"/>
                </a:highlight>
                <a:latin typeface="Itim"/>
                <a:ea typeface="Itim"/>
                <a:cs typeface="Itim"/>
                <a:sym typeface="Itim"/>
              </a:rPr>
              <a:t>•</a:t>
            </a:r>
            <a:r>
              <a:rPr lang="en" sz="2000">
                <a:latin typeface="Itim"/>
                <a:ea typeface="Itim"/>
                <a:cs typeface="Itim"/>
                <a:sym typeface="Itim"/>
              </a:rPr>
              <a:t>Quality, Range of Products, Local</a:t>
            </a:r>
            <a:endParaRPr sz="2000">
              <a:latin typeface="Itim"/>
              <a:ea typeface="Itim"/>
              <a:cs typeface="Itim"/>
              <a:sym typeface="Itim"/>
            </a:endParaRPr>
          </a:p>
          <a:p>
            <a:pPr indent="0" lvl="0" marL="0" rtl="0" algn="l">
              <a:spcBef>
                <a:spcPts val="0"/>
              </a:spcBef>
              <a:spcAft>
                <a:spcPts val="0"/>
              </a:spcAft>
              <a:buNone/>
            </a:pPr>
            <a:r>
              <a:t/>
            </a:r>
            <a:endParaRPr sz="1600">
              <a:latin typeface="Itim"/>
              <a:ea typeface="Itim"/>
              <a:cs typeface="Itim"/>
              <a:sym typeface="Itim"/>
            </a:endParaRPr>
          </a:p>
        </p:txBody>
      </p:sp>
      <p:pic>
        <p:nvPicPr>
          <p:cNvPr id="101" name="Google Shape;101;p16"/>
          <p:cNvPicPr preferRelativeResize="0"/>
          <p:nvPr/>
        </p:nvPicPr>
        <p:blipFill rotWithShape="1">
          <a:blip r:embed="rId4">
            <a:alphaModFix/>
          </a:blip>
          <a:srcRect b="2888" l="14569" r="28741" t="3038"/>
          <a:stretch/>
        </p:blipFill>
        <p:spPr>
          <a:xfrm>
            <a:off x="3587025" y="273150"/>
            <a:ext cx="5261976" cy="4795651"/>
          </a:xfrm>
          <a:prstGeom prst="rect">
            <a:avLst/>
          </a:prstGeom>
          <a:noFill/>
          <a:ln>
            <a:noFill/>
          </a:ln>
        </p:spPr>
      </p:pic>
      <p:pic>
        <p:nvPicPr>
          <p:cNvPr id="102" name="Google Shape;102;p16"/>
          <p:cNvPicPr preferRelativeResize="0"/>
          <p:nvPr/>
        </p:nvPicPr>
        <p:blipFill rotWithShape="1">
          <a:blip r:embed="rId5">
            <a:alphaModFix/>
          </a:blip>
          <a:srcRect b="40231" l="84399" r="0" t="49653"/>
          <a:stretch/>
        </p:blipFill>
        <p:spPr>
          <a:xfrm>
            <a:off x="7594950" y="4141425"/>
            <a:ext cx="1359000" cy="712200"/>
          </a:xfrm>
          <a:prstGeom prst="roundRect">
            <a:avLst>
              <a:gd fmla="val 16667" name="adj"/>
            </a:avLst>
          </a:prstGeom>
          <a:noFill/>
          <a:ln>
            <a:noFill/>
          </a:ln>
        </p:spPr>
      </p:pic>
      <p:sp>
        <p:nvSpPr>
          <p:cNvPr id="103" name="Google Shape;103;p16"/>
          <p:cNvSpPr/>
          <p:nvPr/>
        </p:nvSpPr>
        <p:spPr>
          <a:xfrm>
            <a:off x="6792150" y="273150"/>
            <a:ext cx="1914000" cy="3756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Itim"/>
                <a:ea typeface="Itim"/>
                <a:cs typeface="Itim"/>
                <a:sym typeface="Itim"/>
              </a:rPr>
              <a:t>Brand Concept Map</a:t>
            </a:r>
            <a:endParaRPr>
              <a:solidFill>
                <a:schemeClr val="lt1"/>
              </a:solidFill>
              <a:latin typeface="Itim"/>
              <a:ea typeface="Itim"/>
              <a:cs typeface="Itim"/>
              <a:sym typeface="Iti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17"/>
          <p:cNvPicPr preferRelativeResize="0"/>
          <p:nvPr/>
        </p:nvPicPr>
        <p:blipFill>
          <a:blip r:embed="rId4">
            <a:alphaModFix/>
          </a:blip>
          <a:stretch>
            <a:fillRect/>
          </a:stretch>
        </p:blipFill>
        <p:spPr>
          <a:xfrm rot="-3678292">
            <a:off x="-1067984" y="-674787"/>
            <a:ext cx="3461543" cy="2655719"/>
          </a:xfrm>
          <a:prstGeom prst="rect">
            <a:avLst/>
          </a:prstGeom>
          <a:noFill/>
          <a:ln>
            <a:noFill/>
          </a:ln>
        </p:spPr>
      </p:pic>
      <p:sp>
        <p:nvSpPr>
          <p:cNvPr id="109" name="Google Shape;109;p17"/>
          <p:cNvSpPr txBox="1"/>
          <p:nvPr>
            <p:ph type="title"/>
          </p:nvPr>
        </p:nvSpPr>
        <p:spPr>
          <a:xfrm>
            <a:off x="506650" y="266550"/>
            <a:ext cx="9144000" cy="5727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rgbClr val="96591A"/>
                </a:solidFill>
                <a:latin typeface="Sriracha"/>
                <a:ea typeface="Sriracha"/>
                <a:cs typeface="Sriracha"/>
                <a:sym typeface="Sriracha"/>
              </a:rPr>
              <a:t>“What to post, where, and why”</a:t>
            </a:r>
            <a:endParaRPr>
              <a:solidFill>
                <a:srgbClr val="96591A"/>
              </a:solidFill>
              <a:latin typeface="Sriracha"/>
              <a:ea typeface="Sriracha"/>
              <a:cs typeface="Sriracha"/>
              <a:sym typeface="Sriracha"/>
            </a:endParaRPr>
          </a:p>
        </p:txBody>
      </p:sp>
      <p:pic>
        <p:nvPicPr>
          <p:cNvPr id="110" name="Google Shape;110;p17"/>
          <p:cNvPicPr preferRelativeResize="0"/>
          <p:nvPr/>
        </p:nvPicPr>
        <p:blipFill rotWithShape="1">
          <a:blip r:embed="rId5">
            <a:alphaModFix/>
          </a:blip>
          <a:srcRect b="7232" l="50159" r="28892" t="48503"/>
          <a:stretch/>
        </p:blipFill>
        <p:spPr>
          <a:xfrm rot="-3293542">
            <a:off x="7485261" y="2712864"/>
            <a:ext cx="2620480" cy="3921304"/>
          </a:xfrm>
          <a:prstGeom prst="rect">
            <a:avLst/>
          </a:prstGeom>
          <a:noFill/>
          <a:ln>
            <a:noFill/>
          </a:ln>
        </p:spPr>
      </p:pic>
      <p:grpSp>
        <p:nvGrpSpPr>
          <p:cNvPr id="111" name="Google Shape;111;p17"/>
          <p:cNvGrpSpPr/>
          <p:nvPr/>
        </p:nvGrpSpPr>
        <p:grpSpPr>
          <a:xfrm>
            <a:off x="4806450" y="839250"/>
            <a:ext cx="2971950" cy="2073950"/>
            <a:chOff x="770725" y="971775"/>
            <a:chExt cx="2971950" cy="2073950"/>
          </a:xfrm>
        </p:grpSpPr>
        <p:sp>
          <p:nvSpPr>
            <p:cNvPr id="112" name="Google Shape;112;p17"/>
            <p:cNvSpPr/>
            <p:nvPr/>
          </p:nvSpPr>
          <p:spPr>
            <a:xfrm>
              <a:off x="770725" y="1216925"/>
              <a:ext cx="2971800" cy="18288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Itim"/>
                  <a:ea typeface="Itim"/>
                  <a:cs typeface="Itim"/>
                  <a:sym typeface="Itim"/>
                </a:rPr>
                <a:t>Pictures of drinks and people enjoying the space</a:t>
              </a:r>
              <a:endParaRPr sz="1600">
                <a:latin typeface="Itim"/>
                <a:ea typeface="Itim"/>
                <a:cs typeface="Itim"/>
                <a:sym typeface="Itim"/>
              </a:endParaRPr>
            </a:p>
            <a:p>
              <a:pPr indent="0" lvl="0" marL="0" rtl="0" algn="ctr">
                <a:spcBef>
                  <a:spcPts val="0"/>
                </a:spcBef>
                <a:spcAft>
                  <a:spcPts val="0"/>
                </a:spcAft>
                <a:buNone/>
              </a:pPr>
              <a:r>
                <a:t/>
              </a:r>
              <a:endParaRPr sz="1600">
                <a:latin typeface="Itim"/>
                <a:ea typeface="Itim"/>
                <a:cs typeface="Itim"/>
                <a:sym typeface="Itim"/>
              </a:endParaRPr>
            </a:p>
            <a:p>
              <a:pPr indent="0" lvl="0" marL="0" rtl="0" algn="ctr">
                <a:spcBef>
                  <a:spcPts val="0"/>
                </a:spcBef>
                <a:spcAft>
                  <a:spcPts val="0"/>
                </a:spcAft>
                <a:buNone/>
              </a:pPr>
              <a:r>
                <a:rPr lang="en" sz="1600">
                  <a:latin typeface="Itim"/>
                  <a:ea typeface="Itim"/>
                  <a:cs typeface="Itim"/>
                  <a:sym typeface="Itim"/>
                </a:rPr>
                <a:t>Gets more likes and attention</a:t>
              </a:r>
              <a:endParaRPr sz="1600">
                <a:latin typeface="Itim"/>
                <a:ea typeface="Itim"/>
                <a:cs typeface="Itim"/>
                <a:sym typeface="Itim"/>
              </a:endParaRPr>
            </a:p>
          </p:txBody>
        </p:sp>
        <p:sp>
          <p:nvSpPr>
            <p:cNvPr id="113" name="Google Shape;113;p17"/>
            <p:cNvSpPr txBox="1"/>
            <p:nvPr/>
          </p:nvSpPr>
          <p:spPr>
            <a:xfrm>
              <a:off x="770875" y="971775"/>
              <a:ext cx="2971800" cy="44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274E13"/>
                  </a:solidFill>
                  <a:latin typeface="Itim"/>
                  <a:ea typeface="Itim"/>
                  <a:cs typeface="Itim"/>
                  <a:sym typeface="Itim"/>
                </a:rPr>
                <a:t>Popular Posts</a:t>
              </a:r>
              <a:endParaRPr b="1" sz="1600">
                <a:solidFill>
                  <a:srgbClr val="274E13"/>
                </a:solidFill>
                <a:latin typeface="Itim"/>
                <a:ea typeface="Itim"/>
                <a:cs typeface="Itim"/>
                <a:sym typeface="Itim"/>
              </a:endParaRPr>
            </a:p>
          </p:txBody>
        </p:sp>
      </p:grpSp>
      <p:grpSp>
        <p:nvGrpSpPr>
          <p:cNvPr id="114" name="Google Shape;114;p17"/>
          <p:cNvGrpSpPr/>
          <p:nvPr/>
        </p:nvGrpSpPr>
        <p:grpSpPr>
          <a:xfrm>
            <a:off x="852648" y="839250"/>
            <a:ext cx="3495600" cy="2094950"/>
            <a:chOff x="544375" y="971775"/>
            <a:chExt cx="3000000" cy="2094950"/>
          </a:xfrm>
        </p:grpSpPr>
        <p:sp>
          <p:nvSpPr>
            <p:cNvPr id="115" name="Google Shape;115;p17"/>
            <p:cNvSpPr/>
            <p:nvPr/>
          </p:nvSpPr>
          <p:spPr>
            <a:xfrm>
              <a:off x="770725" y="1216925"/>
              <a:ext cx="2547300" cy="18498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Itim"/>
                  <a:ea typeface="Itim"/>
                  <a:cs typeface="Itim"/>
                  <a:sym typeface="Itim"/>
                </a:rPr>
                <a:t>Instagram, Facebook, LinkedIn, and TikTok</a:t>
              </a:r>
              <a:endParaRPr sz="1600">
                <a:latin typeface="Itim"/>
                <a:ea typeface="Itim"/>
                <a:cs typeface="Itim"/>
                <a:sym typeface="Itim"/>
              </a:endParaRPr>
            </a:p>
            <a:p>
              <a:pPr indent="0" lvl="0" marL="0" rtl="0" algn="ctr">
                <a:spcBef>
                  <a:spcPts val="0"/>
                </a:spcBef>
                <a:spcAft>
                  <a:spcPts val="0"/>
                </a:spcAft>
                <a:buNone/>
              </a:pPr>
              <a:r>
                <a:t/>
              </a:r>
              <a:endParaRPr sz="1600">
                <a:latin typeface="Itim"/>
                <a:ea typeface="Itim"/>
                <a:cs typeface="Itim"/>
                <a:sym typeface="Itim"/>
              </a:endParaRPr>
            </a:p>
            <a:p>
              <a:pPr indent="0" lvl="0" marL="0" rtl="0" algn="ctr">
                <a:spcBef>
                  <a:spcPts val="0"/>
                </a:spcBef>
                <a:spcAft>
                  <a:spcPts val="0"/>
                </a:spcAft>
                <a:buNone/>
              </a:pPr>
              <a:r>
                <a:rPr lang="en" sz="1600">
                  <a:latin typeface="Itim"/>
                  <a:ea typeface="Itim"/>
                  <a:cs typeface="Itim"/>
                  <a:sym typeface="Itim"/>
                </a:rPr>
                <a:t>Used to keep up with local businesses, events and brands</a:t>
              </a:r>
              <a:endParaRPr sz="1600">
                <a:latin typeface="Itim"/>
                <a:ea typeface="Itim"/>
                <a:cs typeface="Itim"/>
                <a:sym typeface="Itim"/>
              </a:endParaRPr>
            </a:p>
          </p:txBody>
        </p:sp>
        <p:sp>
          <p:nvSpPr>
            <p:cNvPr id="116" name="Google Shape;116;p17"/>
            <p:cNvSpPr txBox="1"/>
            <p:nvPr/>
          </p:nvSpPr>
          <p:spPr>
            <a:xfrm>
              <a:off x="544375" y="971775"/>
              <a:ext cx="3000000" cy="44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274E13"/>
                  </a:solidFill>
                  <a:latin typeface="Itim"/>
                  <a:ea typeface="Itim"/>
                  <a:cs typeface="Itim"/>
                  <a:sym typeface="Itim"/>
                </a:rPr>
                <a:t>Commonly Used Platforms</a:t>
              </a:r>
              <a:endParaRPr b="1" sz="1600">
                <a:solidFill>
                  <a:srgbClr val="274E13"/>
                </a:solidFill>
                <a:latin typeface="Itim"/>
                <a:ea typeface="Itim"/>
                <a:cs typeface="Itim"/>
                <a:sym typeface="Itim"/>
              </a:endParaRPr>
            </a:p>
          </p:txBody>
        </p:sp>
      </p:grpSp>
      <p:grpSp>
        <p:nvGrpSpPr>
          <p:cNvPr id="117" name="Google Shape;117;p17"/>
          <p:cNvGrpSpPr/>
          <p:nvPr/>
        </p:nvGrpSpPr>
        <p:grpSpPr>
          <a:xfrm>
            <a:off x="852648" y="2854325"/>
            <a:ext cx="3495600" cy="2094950"/>
            <a:chOff x="544375" y="971775"/>
            <a:chExt cx="3000000" cy="2094950"/>
          </a:xfrm>
        </p:grpSpPr>
        <p:sp>
          <p:nvSpPr>
            <p:cNvPr id="118" name="Google Shape;118;p17"/>
            <p:cNvSpPr/>
            <p:nvPr/>
          </p:nvSpPr>
          <p:spPr>
            <a:xfrm>
              <a:off x="770725" y="1216925"/>
              <a:ext cx="2547300" cy="18498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600">
                  <a:latin typeface="Itim"/>
                  <a:ea typeface="Itim"/>
                  <a:cs typeface="Itim"/>
                  <a:sym typeface="Itim"/>
                </a:rPr>
                <a:t>Colorful posts with dogs, people, events, and food</a:t>
              </a:r>
              <a:endParaRPr sz="1600">
                <a:latin typeface="Itim"/>
                <a:ea typeface="Itim"/>
                <a:cs typeface="Itim"/>
                <a:sym typeface="Itim"/>
              </a:endParaRPr>
            </a:p>
            <a:p>
              <a:pPr indent="0" lvl="0" marL="0" rtl="0" algn="ctr">
                <a:lnSpc>
                  <a:spcPct val="115000"/>
                </a:lnSpc>
                <a:spcBef>
                  <a:spcPts val="0"/>
                </a:spcBef>
                <a:spcAft>
                  <a:spcPts val="0"/>
                </a:spcAft>
                <a:buNone/>
              </a:pPr>
              <a:r>
                <a:t/>
              </a:r>
              <a:endParaRPr sz="1600">
                <a:latin typeface="Itim"/>
                <a:ea typeface="Itim"/>
                <a:cs typeface="Itim"/>
                <a:sym typeface="Itim"/>
              </a:endParaRPr>
            </a:p>
            <a:p>
              <a:pPr indent="0" lvl="0" marL="0" rtl="0" algn="ctr">
                <a:lnSpc>
                  <a:spcPct val="115000"/>
                </a:lnSpc>
                <a:spcBef>
                  <a:spcPts val="0"/>
                </a:spcBef>
                <a:spcAft>
                  <a:spcPts val="0"/>
                </a:spcAft>
                <a:buNone/>
              </a:pPr>
              <a:r>
                <a:rPr lang="en" sz="1600">
                  <a:latin typeface="Itim"/>
                  <a:ea typeface="Itim"/>
                  <a:cs typeface="Itim"/>
                  <a:sym typeface="Itim"/>
                </a:rPr>
                <a:t>More posts of people enjoying the space, upcoming events/drinks, and food</a:t>
              </a:r>
              <a:endParaRPr sz="1600">
                <a:latin typeface="Itim"/>
                <a:ea typeface="Itim"/>
                <a:cs typeface="Itim"/>
                <a:sym typeface="Itim"/>
              </a:endParaRPr>
            </a:p>
          </p:txBody>
        </p:sp>
        <p:sp>
          <p:nvSpPr>
            <p:cNvPr id="119" name="Google Shape;119;p17"/>
            <p:cNvSpPr txBox="1"/>
            <p:nvPr/>
          </p:nvSpPr>
          <p:spPr>
            <a:xfrm>
              <a:off x="544375" y="971775"/>
              <a:ext cx="3000000" cy="44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274E13"/>
                  </a:solidFill>
                  <a:latin typeface="Itim"/>
                  <a:ea typeface="Itim"/>
                  <a:cs typeface="Itim"/>
                  <a:sym typeface="Itim"/>
                </a:rPr>
                <a:t>Capture Attention</a:t>
              </a:r>
              <a:endParaRPr b="1" sz="1600">
                <a:solidFill>
                  <a:srgbClr val="274E13"/>
                </a:solidFill>
                <a:latin typeface="Itim"/>
                <a:ea typeface="Itim"/>
                <a:cs typeface="Itim"/>
                <a:sym typeface="Itim"/>
              </a:endParaRPr>
            </a:p>
          </p:txBody>
        </p:sp>
      </p:grpSp>
      <p:grpSp>
        <p:nvGrpSpPr>
          <p:cNvPr id="120" name="Google Shape;120;p17"/>
          <p:cNvGrpSpPr/>
          <p:nvPr/>
        </p:nvGrpSpPr>
        <p:grpSpPr>
          <a:xfrm>
            <a:off x="4806450" y="2864813"/>
            <a:ext cx="2971950" cy="2073950"/>
            <a:chOff x="770725" y="971775"/>
            <a:chExt cx="2971950" cy="2073950"/>
          </a:xfrm>
        </p:grpSpPr>
        <p:sp>
          <p:nvSpPr>
            <p:cNvPr id="121" name="Google Shape;121;p17"/>
            <p:cNvSpPr/>
            <p:nvPr/>
          </p:nvSpPr>
          <p:spPr>
            <a:xfrm>
              <a:off x="770725" y="1216925"/>
              <a:ext cx="2971800" cy="18288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lnSpc>
                  <a:spcPct val="150000"/>
                </a:lnSpc>
                <a:spcBef>
                  <a:spcPts val="0"/>
                </a:spcBef>
                <a:spcAft>
                  <a:spcPts val="0"/>
                </a:spcAft>
                <a:buNone/>
              </a:pPr>
              <a:r>
                <a:rPr lang="en" sz="1600">
                  <a:latin typeface="Itim"/>
                  <a:ea typeface="Itim"/>
                  <a:cs typeface="Itim"/>
                  <a:sym typeface="Itim"/>
                </a:rPr>
                <a:t>Instagram – ~5200 followers</a:t>
              </a:r>
              <a:endParaRPr sz="1600">
                <a:latin typeface="Itim"/>
                <a:ea typeface="Itim"/>
                <a:cs typeface="Itim"/>
                <a:sym typeface="Itim"/>
              </a:endParaRPr>
            </a:p>
            <a:p>
              <a:pPr indent="0" lvl="0" marL="0" rtl="0" algn="ctr">
                <a:lnSpc>
                  <a:spcPct val="150000"/>
                </a:lnSpc>
                <a:spcBef>
                  <a:spcPts val="0"/>
                </a:spcBef>
                <a:spcAft>
                  <a:spcPts val="0"/>
                </a:spcAft>
                <a:buNone/>
              </a:pPr>
              <a:r>
                <a:rPr lang="en" sz="1600">
                  <a:latin typeface="Itim"/>
                  <a:ea typeface="Itim"/>
                  <a:cs typeface="Itim"/>
                  <a:sym typeface="Itim"/>
                </a:rPr>
                <a:t>1 - 5% engagement rate</a:t>
              </a:r>
              <a:endParaRPr sz="1600">
                <a:latin typeface="Itim"/>
                <a:ea typeface="Itim"/>
                <a:cs typeface="Itim"/>
                <a:sym typeface="Itim"/>
              </a:endParaRPr>
            </a:p>
            <a:p>
              <a:pPr indent="0" lvl="0" marL="0" rtl="0" algn="ctr">
                <a:lnSpc>
                  <a:spcPct val="150000"/>
                </a:lnSpc>
                <a:spcBef>
                  <a:spcPts val="0"/>
                </a:spcBef>
                <a:spcAft>
                  <a:spcPts val="0"/>
                </a:spcAft>
                <a:buNone/>
              </a:pPr>
              <a:r>
                <a:rPr lang="en" sz="1600">
                  <a:latin typeface="Itim"/>
                  <a:ea typeface="Itim"/>
                  <a:cs typeface="Itim"/>
                  <a:sym typeface="Itim"/>
                </a:rPr>
                <a:t>User Generated Content</a:t>
              </a:r>
              <a:endParaRPr sz="1600">
                <a:latin typeface="Itim"/>
                <a:ea typeface="Itim"/>
                <a:cs typeface="Itim"/>
                <a:sym typeface="Itim"/>
              </a:endParaRPr>
            </a:p>
            <a:p>
              <a:pPr indent="0" lvl="0" marL="0" rtl="0" algn="ctr">
                <a:lnSpc>
                  <a:spcPct val="150000"/>
                </a:lnSpc>
                <a:spcBef>
                  <a:spcPts val="0"/>
                </a:spcBef>
                <a:spcAft>
                  <a:spcPts val="0"/>
                </a:spcAft>
                <a:buNone/>
              </a:pPr>
              <a:r>
                <a:rPr lang="en" sz="1600">
                  <a:latin typeface="Itim"/>
                  <a:ea typeface="Itim"/>
                  <a:cs typeface="Itim"/>
                  <a:sym typeface="Itim"/>
                </a:rPr>
                <a:t>Instagram Ads vs Facebook</a:t>
              </a:r>
              <a:endParaRPr sz="1600">
                <a:latin typeface="Itim"/>
                <a:ea typeface="Itim"/>
                <a:cs typeface="Itim"/>
                <a:sym typeface="Itim"/>
              </a:endParaRPr>
            </a:p>
          </p:txBody>
        </p:sp>
        <p:sp>
          <p:nvSpPr>
            <p:cNvPr id="122" name="Google Shape;122;p17"/>
            <p:cNvSpPr txBox="1"/>
            <p:nvPr/>
          </p:nvSpPr>
          <p:spPr>
            <a:xfrm>
              <a:off x="770875" y="971775"/>
              <a:ext cx="2971800" cy="44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274E13"/>
                  </a:solidFill>
                  <a:latin typeface="Itim"/>
                  <a:ea typeface="Itim"/>
                  <a:cs typeface="Itim"/>
                  <a:sym typeface="Itim"/>
                </a:rPr>
                <a:t>Ideal KPI’s</a:t>
              </a:r>
              <a:endParaRPr b="1" sz="1600">
                <a:solidFill>
                  <a:srgbClr val="274E13"/>
                </a:solidFill>
                <a:latin typeface="Itim"/>
                <a:ea typeface="Itim"/>
                <a:cs typeface="Itim"/>
                <a:sym typeface="Itim"/>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p:nvPr/>
        </p:nvSpPr>
        <p:spPr>
          <a:xfrm>
            <a:off x="629100" y="1088275"/>
            <a:ext cx="2590200" cy="744300"/>
          </a:xfrm>
          <a:prstGeom prst="wedgeRoundRectCallout">
            <a:avLst>
              <a:gd fmla="val -20833" name="adj1"/>
              <a:gd fmla="val 62500" name="adj2"/>
              <a:gd fmla="val 0" name="adj3"/>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8"/>
          <p:cNvSpPr txBox="1"/>
          <p:nvPr>
            <p:ph type="title"/>
          </p:nvPr>
        </p:nvSpPr>
        <p:spPr>
          <a:xfrm>
            <a:off x="-144625" y="266550"/>
            <a:ext cx="9144000" cy="5727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rgbClr val="96591A"/>
                </a:solidFill>
                <a:latin typeface="Sriracha"/>
                <a:ea typeface="Sriracha"/>
                <a:cs typeface="Sriracha"/>
                <a:sym typeface="Sriracha"/>
              </a:rPr>
              <a:t>Quotes from Consumers</a:t>
            </a:r>
            <a:endParaRPr>
              <a:solidFill>
                <a:srgbClr val="96591A"/>
              </a:solidFill>
              <a:latin typeface="Sriracha"/>
              <a:ea typeface="Sriracha"/>
              <a:cs typeface="Sriracha"/>
              <a:sym typeface="Sriracha"/>
            </a:endParaRPr>
          </a:p>
        </p:txBody>
      </p:sp>
      <p:sp>
        <p:nvSpPr>
          <p:cNvPr id="129" name="Google Shape;129;p18"/>
          <p:cNvSpPr txBox="1"/>
          <p:nvPr/>
        </p:nvSpPr>
        <p:spPr>
          <a:xfrm>
            <a:off x="669900" y="1103425"/>
            <a:ext cx="2508600" cy="714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a:solidFill>
                  <a:schemeClr val="dk1"/>
                </a:solidFill>
                <a:latin typeface="Itim"/>
                <a:ea typeface="Itim"/>
                <a:cs typeface="Itim"/>
                <a:sym typeface="Itim"/>
              </a:rPr>
              <a:t>“Need more posts that are interacting with customers.”</a:t>
            </a:r>
            <a:endParaRPr>
              <a:solidFill>
                <a:schemeClr val="dk1"/>
              </a:solidFill>
              <a:latin typeface="Itim"/>
              <a:ea typeface="Itim"/>
              <a:cs typeface="Itim"/>
              <a:sym typeface="Itim"/>
            </a:endParaRPr>
          </a:p>
        </p:txBody>
      </p:sp>
      <p:sp>
        <p:nvSpPr>
          <p:cNvPr id="130" name="Google Shape;130;p18"/>
          <p:cNvSpPr txBox="1"/>
          <p:nvPr/>
        </p:nvSpPr>
        <p:spPr>
          <a:xfrm>
            <a:off x="5259725" y="2124475"/>
            <a:ext cx="3445200" cy="1316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Itim"/>
                <a:ea typeface="Itim"/>
                <a:cs typeface="Itim"/>
                <a:sym typeface="Itim"/>
              </a:rPr>
              <a:t>“Include more details about what the bluegrass sundays normally look and sound like. Include the ABS percentages for the ciders shown.”</a:t>
            </a:r>
            <a:endParaRPr>
              <a:solidFill>
                <a:schemeClr val="dk1"/>
              </a:solidFill>
              <a:latin typeface="Itim"/>
              <a:ea typeface="Itim"/>
              <a:cs typeface="Itim"/>
              <a:sym typeface="Itim"/>
            </a:endParaRPr>
          </a:p>
          <a:p>
            <a:pPr indent="0" lvl="0" marL="0" rtl="0" algn="ctr">
              <a:lnSpc>
                <a:spcPct val="115000"/>
              </a:lnSpc>
              <a:spcBef>
                <a:spcPts val="1200"/>
              </a:spcBef>
              <a:spcAft>
                <a:spcPts val="0"/>
              </a:spcAft>
              <a:buNone/>
            </a:pPr>
            <a:r>
              <a:t/>
            </a:r>
            <a:endParaRPr>
              <a:solidFill>
                <a:schemeClr val="dk1"/>
              </a:solidFill>
              <a:latin typeface="Itim"/>
              <a:ea typeface="Itim"/>
              <a:cs typeface="Itim"/>
              <a:sym typeface="Itim"/>
            </a:endParaRPr>
          </a:p>
          <a:p>
            <a:pPr indent="0" lvl="0" marL="0" rtl="0" algn="ctr">
              <a:lnSpc>
                <a:spcPct val="115000"/>
              </a:lnSpc>
              <a:spcBef>
                <a:spcPts val="1200"/>
              </a:spcBef>
              <a:spcAft>
                <a:spcPts val="1200"/>
              </a:spcAft>
              <a:buNone/>
            </a:pPr>
            <a:r>
              <a:t/>
            </a:r>
            <a:endParaRPr>
              <a:solidFill>
                <a:schemeClr val="dk1"/>
              </a:solidFill>
              <a:latin typeface="Itim"/>
              <a:ea typeface="Itim"/>
              <a:cs typeface="Itim"/>
              <a:sym typeface="Itim"/>
            </a:endParaRPr>
          </a:p>
        </p:txBody>
      </p:sp>
      <p:sp>
        <p:nvSpPr>
          <p:cNvPr id="131" name="Google Shape;131;p18"/>
          <p:cNvSpPr txBox="1"/>
          <p:nvPr/>
        </p:nvSpPr>
        <p:spPr>
          <a:xfrm>
            <a:off x="4708225" y="3633925"/>
            <a:ext cx="3000000" cy="714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a:solidFill>
                  <a:schemeClr val="dk1"/>
                </a:solidFill>
                <a:latin typeface="Itim"/>
                <a:ea typeface="Itim"/>
                <a:cs typeface="Itim"/>
                <a:sym typeface="Itim"/>
              </a:rPr>
              <a:t>“</a:t>
            </a:r>
            <a:r>
              <a:rPr lang="en">
                <a:solidFill>
                  <a:schemeClr val="dk1"/>
                </a:solidFill>
                <a:latin typeface="Itim"/>
                <a:ea typeface="Itim"/>
                <a:cs typeface="Itim"/>
                <a:sym typeface="Itim"/>
              </a:rPr>
              <a:t>Some more customer feedback/experiences</a:t>
            </a:r>
            <a:r>
              <a:rPr lang="en">
                <a:solidFill>
                  <a:schemeClr val="dk1"/>
                </a:solidFill>
                <a:latin typeface="Itim"/>
                <a:ea typeface="Itim"/>
                <a:cs typeface="Itim"/>
                <a:sym typeface="Itim"/>
              </a:rPr>
              <a:t>”</a:t>
            </a:r>
            <a:endParaRPr>
              <a:solidFill>
                <a:schemeClr val="dk1"/>
              </a:solidFill>
              <a:latin typeface="Itim"/>
              <a:ea typeface="Itim"/>
              <a:cs typeface="Itim"/>
              <a:sym typeface="Itim"/>
            </a:endParaRPr>
          </a:p>
        </p:txBody>
      </p:sp>
      <p:sp>
        <p:nvSpPr>
          <p:cNvPr id="132" name="Google Shape;132;p18"/>
          <p:cNvSpPr txBox="1"/>
          <p:nvPr/>
        </p:nvSpPr>
        <p:spPr>
          <a:xfrm>
            <a:off x="1277800" y="3618763"/>
            <a:ext cx="3000000" cy="863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a:solidFill>
                  <a:schemeClr val="dk1"/>
                </a:solidFill>
                <a:latin typeface="Itim"/>
                <a:ea typeface="Itim"/>
                <a:cs typeface="Itim"/>
                <a:sym typeface="Itim"/>
              </a:rPr>
              <a:t>“I would recommend putting more pictures and videos of the events that they have.”</a:t>
            </a:r>
            <a:endParaRPr>
              <a:solidFill>
                <a:schemeClr val="dk1"/>
              </a:solidFill>
              <a:latin typeface="Itim"/>
              <a:ea typeface="Itim"/>
              <a:cs typeface="Itim"/>
              <a:sym typeface="Itim"/>
            </a:endParaRPr>
          </a:p>
        </p:txBody>
      </p:sp>
      <p:sp>
        <p:nvSpPr>
          <p:cNvPr id="133" name="Google Shape;133;p18"/>
          <p:cNvSpPr txBox="1"/>
          <p:nvPr/>
        </p:nvSpPr>
        <p:spPr>
          <a:xfrm>
            <a:off x="1572000" y="2202663"/>
            <a:ext cx="3000000" cy="863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a:solidFill>
                  <a:schemeClr val="dk1"/>
                </a:solidFill>
                <a:latin typeface="Itim"/>
                <a:ea typeface="Itim"/>
                <a:cs typeface="Itim"/>
                <a:sym typeface="Itim"/>
              </a:rPr>
              <a:t>“</a:t>
            </a:r>
            <a:r>
              <a:rPr lang="en">
                <a:solidFill>
                  <a:schemeClr val="dk1"/>
                </a:solidFill>
                <a:latin typeface="Itim"/>
                <a:ea typeface="Itim"/>
                <a:cs typeface="Itim"/>
                <a:sym typeface="Itim"/>
              </a:rPr>
              <a:t>I think more pops of color would be nice and hearing people's viewpoints</a:t>
            </a:r>
            <a:r>
              <a:rPr lang="en">
                <a:solidFill>
                  <a:schemeClr val="dk1"/>
                </a:solidFill>
                <a:latin typeface="Itim"/>
                <a:ea typeface="Itim"/>
                <a:cs typeface="Itim"/>
                <a:sym typeface="Itim"/>
              </a:rPr>
              <a:t>”</a:t>
            </a:r>
            <a:endParaRPr>
              <a:solidFill>
                <a:schemeClr val="dk1"/>
              </a:solidFill>
              <a:latin typeface="Itim"/>
              <a:ea typeface="Itim"/>
              <a:cs typeface="Itim"/>
              <a:sym typeface="Itim"/>
            </a:endParaRPr>
          </a:p>
        </p:txBody>
      </p:sp>
      <p:sp>
        <p:nvSpPr>
          <p:cNvPr id="134" name="Google Shape;134;p18"/>
          <p:cNvSpPr txBox="1"/>
          <p:nvPr/>
        </p:nvSpPr>
        <p:spPr>
          <a:xfrm>
            <a:off x="4165900" y="688800"/>
            <a:ext cx="3000000" cy="1128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a:solidFill>
                  <a:schemeClr val="dk1"/>
                </a:solidFill>
                <a:latin typeface="Itim"/>
                <a:ea typeface="Itim"/>
                <a:cs typeface="Itim"/>
                <a:sym typeface="Itim"/>
              </a:rPr>
              <a:t>“H</a:t>
            </a:r>
            <a:r>
              <a:rPr lang="en">
                <a:solidFill>
                  <a:schemeClr val="dk1"/>
                </a:solidFill>
                <a:latin typeface="Itim"/>
                <a:ea typeface="Itim"/>
                <a:cs typeface="Itim"/>
                <a:sym typeface="Itim"/>
              </a:rPr>
              <a:t>ighlighting the venue when it is full of customers. Showcasing pictures of people enjoying their experience at this venue.</a:t>
            </a:r>
            <a:r>
              <a:rPr lang="en">
                <a:solidFill>
                  <a:schemeClr val="dk1"/>
                </a:solidFill>
                <a:latin typeface="Itim"/>
                <a:ea typeface="Itim"/>
                <a:cs typeface="Itim"/>
                <a:sym typeface="Itim"/>
              </a:rPr>
              <a:t>”</a:t>
            </a:r>
            <a:endParaRPr>
              <a:solidFill>
                <a:schemeClr val="dk1"/>
              </a:solidFill>
              <a:latin typeface="Itim"/>
              <a:ea typeface="Itim"/>
              <a:cs typeface="Itim"/>
              <a:sym typeface="Itim"/>
            </a:endParaRPr>
          </a:p>
        </p:txBody>
      </p:sp>
      <p:sp>
        <p:nvSpPr>
          <p:cNvPr id="135" name="Google Shape;135;p18"/>
          <p:cNvSpPr/>
          <p:nvPr/>
        </p:nvSpPr>
        <p:spPr>
          <a:xfrm>
            <a:off x="4277800" y="692425"/>
            <a:ext cx="2776200" cy="1128600"/>
          </a:xfrm>
          <a:prstGeom prst="wedgeRoundRectCallout">
            <a:avLst>
              <a:gd fmla="val -20833" name="adj1"/>
              <a:gd fmla="val 62500" name="adj2"/>
              <a:gd fmla="val 0" name="adj3"/>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8"/>
          <p:cNvSpPr/>
          <p:nvPr/>
        </p:nvSpPr>
        <p:spPr>
          <a:xfrm>
            <a:off x="1572625" y="2199600"/>
            <a:ext cx="3080700" cy="744300"/>
          </a:xfrm>
          <a:prstGeom prst="wedgeRoundRectCallout">
            <a:avLst>
              <a:gd fmla="val -20833" name="adj1"/>
              <a:gd fmla="val 62500" name="adj2"/>
              <a:gd fmla="val 0" name="adj3"/>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8"/>
          <p:cNvSpPr/>
          <p:nvPr/>
        </p:nvSpPr>
        <p:spPr>
          <a:xfrm>
            <a:off x="5378675" y="2199600"/>
            <a:ext cx="3280200" cy="1065600"/>
          </a:xfrm>
          <a:prstGeom prst="wedgeRoundRectCallout">
            <a:avLst>
              <a:gd fmla="val -20833" name="adj1"/>
              <a:gd fmla="val 62500" name="adj2"/>
              <a:gd fmla="val 0" name="adj3"/>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8"/>
          <p:cNvSpPr/>
          <p:nvPr/>
        </p:nvSpPr>
        <p:spPr>
          <a:xfrm>
            <a:off x="1389700" y="3559225"/>
            <a:ext cx="2776200" cy="922800"/>
          </a:xfrm>
          <a:prstGeom prst="wedgeRoundRectCallout">
            <a:avLst>
              <a:gd fmla="val -20833" name="adj1"/>
              <a:gd fmla="val 62500" name="adj2"/>
              <a:gd fmla="val 0" name="adj3"/>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18"/>
          <p:cNvSpPr/>
          <p:nvPr/>
        </p:nvSpPr>
        <p:spPr>
          <a:xfrm>
            <a:off x="4952650" y="3618775"/>
            <a:ext cx="2590200" cy="744300"/>
          </a:xfrm>
          <a:prstGeom prst="wedgeRoundRectCallout">
            <a:avLst>
              <a:gd fmla="val -20833" name="adj1"/>
              <a:gd fmla="val 62500" name="adj2"/>
              <a:gd fmla="val 0" name="adj3"/>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0" name="Google Shape;140;p18"/>
          <p:cNvPicPr preferRelativeResize="0"/>
          <p:nvPr/>
        </p:nvPicPr>
        <p:blipFill rotWithShape="1">
          <a:blip r:embed="rId4">
            <a:alphaModFix/>
          </a:blip>
          <a:srcRect b="7232" l="50159" r="28892" t="48503"/>
          <a:stretch/>
        </p:blipFill>
        <p:spPr>
          <a:xfrm rot="-10045945">
            <a:off x="7011904" y="-1645207"/>
            <a:ext cx="2745269" cy="4134469"/>
          </a:xfrm>
          <a:prstGeom prst="rect">
            <a:avLst/>
          </a:prstGeom>
          <a:noFill/>
          <a:ln>
            <a:noFill/>
          </a:ln>
        </p:spPr>
      </p:pic>
      <p:pic>
        <p:nvPicPr>
          <p:cNvPr id="141" name="Google Shape;141;p18"/>
          <p:cNvPicPr preferRelativeResize="0"/>
          <p:nvPr/>
        </p:nvPicPr>
        <p:blipFill>
          <a:blip r:embed="rId5">
            <a:alphaModFix/>
          </a:blip>
          <a:stretch>
            <a:fillRect/>
          </a:stretch>
        </p:blipFill>
        <p:spPr>
          <a:xfrm rot="-2700050">
            <a:off x="160814" y="1470006"/>
            <a:ext cx="1961447" cy="596707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grpSp>
        <p:nvGrpSpPr>
          <p:cNvPr id="146" name="Google Shape;146;p19"/>
          <p:cNvGrpSpPr/>
          <p:nvPr/>
        </p:nvGrpSpPr>
        <p:grpSpPr>
          <a:xfrm rot="10790104">
            <a:off x="555503" y="2156045"/>
            <a:ext cx="4349321" cy="3271516"/>
            <a:chOff x="6409100" y="868075"/>
            <a:chExt cx="2052526" cy="1549600"/>
          </a:xfrm>
        </p:grpSpPr>
        <p:pic>
          <p:nvPicPr>
            <p:cNvPr id="147" name="Google Shape;147;p19"/>
            <p:cNvPicPr preferRelativeResize="0"/>
            <p:nvPr/>
          </p:nvPicPr>
          <p:blipFill rotWithShape="1">
            <a:blip r:embed="rId4">
              <a:alphaModFix/>
            </a:blip>
            <a:srcRect b="43521" l="70546" r="3085" t="24455"/>
            <a:stretch/>
          </p:blipFill>
          <p:spPr>
            <a:xfrm>
              <a:off x="6409100" y="868075"/>
              <a:ext cx="2052526" cy="1549525"/>
            </a:xfrm>
            <a:prstGeom prst="rect">
              <a:avLst/>
            </a:prstGeom>
            <a:noFill/>
            <a:ln>
              <a:noFill/>
            </a:ln>
          </p:spPr>
        </p:pic>
        <p:sp>
          <p:nvSpPr>
            <p:cNvPr id="148" name="Google Shape;148;p19"/>
            <p:cNvSpPr/>
            <p:nvPr/>
          </p:nvSpPr>
          <p:spPr>
            <a:xfrm>
              <a:off x="8080325" y="2076875"/>
              <a:ext cx="243300" cy="340800"/>
            </a:xfrm>
            <a:prstGeom prst="rect">
              <a:avLst/>
            </a:prstGeom>
            <a:solidFill>
              <a:srgbClr val="B5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49" name="Google Shape;149;p19"/>
          <p:cNvPicPr preferRelativeResize="0"/>
          <p:nvPr/>
        </p:nvPicPr>
        <p:blipFill>
          <a:blip r:embed="rId5">
            <a:alphaModFix/>
          </a:blip>
          <a:stretch>
            <a:fillRect/>
          </a:stretch>
        </p:blipFill>
        <p:spPr>
          <a:xfrm>
            <a:off x="12" y="-311575"/>
            <a:ext cx="4277125" cy="3418000"/>
          </a:xfrm>
          <a:prstGeom prst="rect">
            <a:avLst/>
          </a:prstGeom>
          <a:noFill/>
          <a:ln>
            <a:noFill/>
          </a:ln>
        </p:spPr>
      </p:pic>
      <p:sp>
        <p:nvSpPr>
          <p:cNvPr id="150" name="Google Shape;150;p19"/>
          <p:cNvSpPr txBox="1"/>
          <p:nvPr>
            <p:ph type="title"/>
          </p:nvPr>
        </p:nvSpPr>
        <p:spPr>
          <a:xfrm>
            <a:off x="1158825" y="2285400"/>
            <a:ext cx="2326500" cy="5727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sz="3800">
                <a:solidFill>
                  <a:srgbClr val="96591A"/>
                </a:solidFill>
                <a:latin typeface="Sriracha"/>
                <a:ea typeface="Sriracha"/>
                <a:cs typeface="Sriracha"/>
                <a:sym typeface="Sriracha"/>
              </a:rPr>
              <a:t>Insight</a:t>
            </a:r>
            <a:endParaRPr sz="3800">
              <a:solidFill>
                <a:srgbClr val="96591A"/>
              </a:solidFill>
              <a:latin typeface="Sriracha"/>
              <a:ea typeface="Sriracha"/>
              <a:cs typeface="Sriracha"/>
              <a:sym typeface="Sriracha"/>
            </a:endParaRPr>
          </a:p>
        </p:txBody>
      </p:sp>
      <p:sp>
        <p:nvSpPr>
          <p:cNvPr id="151" name="Google Shape;151;p19"/>
          <p:cNvSpPr txBox="1"/>
          <p:nvPr/>
        </p:nvSpPr>
        <p:spPr>
          <a:xfrm>
            <a:off x="4658800" y="181875"/>
            <a:ext cx="4349400" cy="460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000">
                <a:solidFill>
                  <a:schemeClr val="lt1"/>
                </a:solidFill>
                <a:latin typeface="Itim"/>
                <a:ea typeface="Itim"/>
                <a:cs typeface="Itim"/>
                <a:sym typeface="Itim"/>
              </a:rPr>
              <a:t>Customers love the vibe and space that EBCC brings. Showcasing this online can drive engagement and inspire/convince people to come visit. </a:t>
            </a:r>
            <a:endParaRPr b="1" sz="2000">
              <a:solidFill>
                <a:schemeClr val="lt1"/>
              </a:solidFill>
              <a:latin typeface="Itim"/>
              <a:ea typeface="Itim"/>
              <a:cs typeface="Itim"/>
              <a:sym typeface="Itim"/>
            </a:endParaRPr>
          </a:p>
          <a:p>
            <a:pPr indent="0" lvl="0" marL="0" rtl="0" algn="l">
              <a:lnSpc>
                <a:spcPct val="115000"/>
              </a:lnSpc>
              <a:spcBef>
                <a:spcPts val="0"/>
              </a:spcBef>
              <a:spcAft>
                <a:spcPts val="0"/>
              </a:spcAft>
              <a:buNone/>
            </a:pPr>
            <a:r>
              <a:t/>
            </a:r>
            <a:endParaRPr sz="1800">
              <a:solidFill>
                <a:srgbClr val="444746"/>
              </a:solidFill>
              <a:latin typeface="Itim"/>
              <a:ea typeface="Itim"/>
              <a:cs typeface="Itim"/>
              <a:sym typeface="Itim"/>
            </a:endParaRPr>
          </a:p>
          <a:p>
            <a:pPr indent="0" lvl="0" marL="0" rtl="0" algn="l">
              <a:lnSpc>
                <a:spcPct val="115000"/>
              </a:lnSpc>
              <a:spcBef>
                <a:spcPts val="0"/>
              </a:spcBef>
              <a:spcAft>
                <a:spcPts val="0"/>
              </a:spcAft>
              <a:buNone/>
            </a:pPr>
            <a:r>
              <a:rPr lang="en" sz="1800">
                <a:solidFill>
                  <a:srgbClr val="444746"/>
                </a:solidFill>
                <a:latin typeface="Itim"/>
                <a:ea typeface="Itim"/>
                <a:cs typeface="Itim"/>
                <a:sym typeface="Itim"/>
              </a:rPr>
              <a:t>-Instagram is a great place to promote a business. </a:t>
            </a:r>
            <a:endParaRPr sz="1800">
              <a:solidFill>
                <a:srgbClr val="444746"/>
              </a:solidFill>
              <a:latin typeface="Itim"/>
              <a:ea typeface="Itim"/>
              <a:cs typeface="Itim"/>
              <a:sym typeface="Itim"/>
            </a:endParaRPr>
          </a:p>
          <a:p>
            <a:pPr indent="0" lvl="0" marL="0" rtl="0" algn="l">
              <a:lnSpc>
                <a:spcPct val="115000"/>
              </a:lnSpc>
              <a:spcBef>
                <a:spcPts val="0"/>
              </a:spcBef>
              <a:spcAft>
                <a:spcPts val="0"/>
              </a:spcAft>
              <a:buNone/>
            </a:pPr>
            <a:r>
              <a:rPr lang="en" sz="1800">
                <a:solidFill>
                  <a:srgbClr val="444746"/>
                </a:solidFill>
                <a:latin typeface="Itim"/>
                <a:ea typeface="Itim"/>
                <a:cs typeface="Itim"/>
                <a:sym typeface="Itim"/>
              </a:rPr>
              <a:t>-Most said that they would love to see more posts about the food and customers interacting with the space/environment. </a:t>
            </a:r>
            <a:endParaRPr sz="1800">
              <a:solidFill>
                <a:srgbClr val="444746"/>
              </a:solidFill>
              <a:latin typeface="Itim"/>
              <a:ea typeface="Itim"/>
              <a:cs typeface="Itim"/>
              <a:sym typeface="Itim"/>
            </a:endParaRPr>
          </a:p>
          <a:p>
            <a:pPr indent="457200" lvl="0" marL="457200" rtl="0" algn="l">
              <a:lnSpc>
                <a:spcPct val="115000"/>
              </a:lnSpc>
              <a:spcBef>
                <a:spcPts val="0"/>
              </a:spcBef>
              <a:spcAft>
                <a:spcPts val="0"/>
              </a:spcAft>
              <a:buNone/>
            </a:pPr>
            <a:r>
              <a:rPr lang="en" sz="1500">
                <a:solidFill>
                  <a:srgbClr val="444746"/>
                </a:solidFill>
                <a:latin typeface="Itim"/>
                <a:ea typeface="Itim"/>
                <a:cs typeface="Itim"/>
                <a:sym typeface="Itim"/>
              </a:rPr>
              <a:t>-Customers want to feel like they are familiar with the space before visiting the actual storefront.</a:t>
            </a:r>
            <a:endParaRPr sz="1500">
              <a:solidFill>
                <a:srgbClr val="444746"/>
              </a:solidFill>
              <a:latin typeface="Itim"/>
              <a:ea typeface="Itim"/>
              <a:cs typeface="Itim"/>
              <a:sym typeface="Itim"/>
            </a:endParaRPr>
          </a:p>
          <a:p>
            <a:pPr indent="457200" lvl="0" marL="457200" rtl="0" algn="l">
              <a:lnSpc>
                <a:spcPct val="115000"/>
              </a:lnSpc>
              <a:spcBef>
                <a:spcPts val="0"/>
              </a:spcBef>
              <a:spcAft>
                <a:spcPts val="0"/>
              </a:spcAft>
              <a:buNone/>
            </a:pPr>
            <a:r>
              <a:rPr lang="en" sz="1500">
                <a:solidFill>
                  <a:srgbClr val="444746"/>
                </a:solidFill>
                <a:latin typeface="Itim"/>
                <a:ea typeface="Itim"/>
                <a:cs typeface="Itim"/>
                <a:sym typeface="Itim"/>
              </a:rPr>
              <a:t>- Authentic posts would do well to bring in that community vibe</a:t>
            </a:r>
            <a:endParaRPr sz="1500">
              <a:solidFill>
                <a:srgbClr val="444746"/>
              </a:solidFill>
              <a:latin typeface="Itim"/>
              <a:ea typeface="Itim"/>
              <a:cs typeface="Itim"/>
              <a:sym typeface="Iti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0"/>
          <p:cNvSpPr txBox="1"/>
          <p:nvPr>
            <p:ph type="title"/>
          </p:nvPr>
        </p:nvSpPr>
        <p:spPr>
          <a:xfrm>
            <a:off x="115600" y="355750"/>
            <a:ext cx="8520600" cy="572700"/>
          </a:xfrm>
          <a:prstGeom prst="rect">
            <a:avLst/>
          </a:prstGeom>
        </p:spPr>
        <p:txBody>
          <a:bodyPr anchorCtr="0" anchor="t" bIns="91425" lIns="91425" spcFirstLastPara="1" rIns="91425" wrap="square" tIns="91425">
            <a:noAutofit/>
          </a:bodyPr>
          <a:lstStyle/>
          <a:p>
            <a:pPr indent="457200" lvl="0" marL="0" rtl="0" algn="ctr">
              <a:spcBef>
                <a:spcPts val="0"/>
              </a:spcBef>
              <a:spcAft>
                <a:spcPts val="0"/>
              </a:spcAft>
              <a:buClr>
                <a:schemeClr val="dk1"/>
              </a:buClr>
              <a:buSzPts val="1100"/>
              <a:buFont typeface="Arial"/>
              <a:buNone/>
            </a:pPr>
            <a:r>
              <a:rPr lang="en">
                <a:solidFill>
                  <a:srgbClr val="96591A"/>
                </a:solidFill>
                <a:latin typeface="Sriracha"/>
                <a:ea typeface="Sriracha"/>
                <a:cs typeface="Sriracha"/>
                <a:sym typeface="Sriracha"/>
              </a:rPr>
              <a:t>Customer Personas</a:t>
            </a:r>
            <a:endParaRPr/>
          </a:p>
        </p:txBody>
      </p:sp>
      <p:sp>
        <p:nvSpPr>
          <p:cNvPr id="157" name="Google Shape;157;p20"/>
          <p:cNvSpPr/>
          <p:nvPr/>
        </p:nvSpPr>
        <p:spPr>
          <a:xfrm>
            <a:off x="212350" y="1187550"/>
            <a:ext cx="3903600" cy="38145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Itim"/>
              <a:ea typeface="Itim"/>
              <a:cs typeface="Itim"/>
              <a:sym typeface="Itim"/>
            </a:endParaRPr>
          </a:p>
          <a:p>
            <a:pPr indent="0" lvl="0" marL="0" rtl="0" algn="ctr">
              <a:spcBef>
                <a:spcPts val="0"/>
              </a:spcBef>
              <a:spcAft>
                <a:spcPts val="0"/>
              </a:spcAft>
              <a:buNone/>
            </a:pPr>
            <a:r>
              <a:t/>
            </a:r>
            <a:endParaRPr sz="1600">
              <a:latin typeface="Itim"/>
              <a:ea typeface="Itim"/>
              <a:cs typeface="Itim"/>
              <a:sym typeface="Itim"/>
            </a:endParaRPr>
          </a:p>
        </p:txBody>
      </p:sp>
      <p:sp>
        <p:nvSpPr>
          <p:cNvPr id="158" name="Google Shape;158;p20"/>
          <p:cNvSpPr txBox="1"/>
          <p:nvPr>
            <p:ph idx="1" type="body"/>
          </p:nvPr>
        </p:nvSpPr>
        <p:spPr>
          <a:xfrm>
            <a:off x="558400" y="1187550"/>
            <a:ext cx="3326700" cy="38145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Name: John Cooper</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Age: 35</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Location: Raleigh, NC</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Occupation: Project Manager</a:t>
            </a:r>
            <a:endParaRPr sz="1100">
              <a:solidFill>
                <a:schemeClr val="dk1"/>
              </a:solidFill>
              <a:latin typeface="Itim"/>
              <a:ea typeface="Itim"/>
              <a:cs typeface="Itim"/>
              <a:sym typeface="Itim"/>
            </a:endParaRPr>
          </a:p>
          <a:p>
            <a:pPr indent="0" lvl="0" marL="0" rtl="0" algn="ctr">
              <a:spcBef>
                <a:spcPts val="1200"/>
              </a:spcBef>
              <a:spcAft>
                <a:spcPts val="0"/>
              </a:spcAft>
              <a:buClr>
                <a:schemeClr val="dk1"/>
              </a:buClr>
              <a:buSzPts val="1100"/>
              <a:buFont typeface="Arial"/>
              <a:buNone/>
            </a:pPr>
            <a:r>
              <a:rPr lang="en" sz="1100" u="sng">
                <a:solidFill>
                  <a:schemeClr val="dk1"/>
                </a:solidFill>
                <a:latin typeface="Itim"/>
                <a:ea typeface="Itim"/>
                <a:cs typeface="Itim"/>
                <a:sym typeface="Itim"/>
              </a:rPr>
              <a:t>Psychographics</a:t>
            </a:r>
            <a:endParaRPr sz="1100" u="sng">
              <a:solidFill>
                <a:schemeClr val="dk1"/>
              </a:solidFill>
              <a:latin typeface="Itim"/>
              <a:ea typeface="Itim"/>
              <a:cs typeface="Itim"/>
              <a:sym typeface="Itim"/>
            </a:endParaRPr>
          </a:p>
          <a:p>
            <a:pPr indent="-298450" lvl="0" marL="457200" rtl="0" algn="l">
              <a:spcBef>
                <a:spcPts val="1200"/>
              </a:spcBef>
              <a:spcAft>
                <a:spcPts val="0"/>
              </a:spcAft>
              <a:buClr>
                <a:schemeClr val="dk1"/>
              </a:buClr>
              <a:buSzPts val="1100"/>
              <a:buFont typeface="Itim"/>
              <a:buChar char="●"/>
            </a:pPr>
            <a:r>
              <a:rPr lang="en" sz="1100">
                <a:solidFill>
                  <a:schemeClr val="dk1"/>
                </a:solidFill>
                <a:latin typeface="Itim"/>
                <a:ea typeface="Itim"/>
                <a:cs typeface="Itim"/>
                <a:sym typeface="Itim"/>
              </a:rPr>
              <a:t>Values: Community, authenticity</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Interests: Family time, local social scene</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Social Media: Active on Instagram, TikTok, occasional Facebook</a:t>
            </a:r>
            <a:endParaRPr sz="1100">
              <a:solidFill>
                <a:schemeClr val="dk1"/>
              </a:solidFill>
              <a:latin typeface="Itim"/>
              <a:ea typeface="Itim"/>
              <a:cs typeface="Itim"/>
              <a:sym typeface="Itim"/>
            </a:endParaRPr>
          </a:p>
          <a:p>
            <a:pPr indent="0" lvl="0" marL="0" rtl="0" algn="ctr">
              <a:spcBef>
                <a:spcPts val="1200"/>
              </a:spcBef>
              <a:spcAft>
                <a:spcPts val="0"/>
              </a:spcAft>
              <a:buClr>
                <a:schemeClr val="dk1"/>
              </a:buClr>
              <a:buSzPts val="1100"/>
              <a:buFont typeface="Arial"/>
              <a:buNone/>
            </a:pPr>
            <a:r>
              <a:rPr lang="en" sz="1100" u="sng">
                <a:solidFill>
                  <a:schemeClr val="dk1"/>
                </a:solidFill>
                <a:latin typeface="Itim"/>
                <a:ea typeface="Itim"/>
                <a:cs typeface="Itim"/>
                <a:sym typeface="Itim"/>
              </a:rPr>
              <a:t>Connection to East Bower:</a:t>
            </a:r>
            <a:endParaRPr sz="1100" u="sng">
              <a:solidFill>
                <a:schemeClr val="dk1"/>
              </a:solidFill>
              <a:latin typeface="Itim"/>
              <a:ea typeface="Itim"/>
              <a:cs typeface="Itim"/>
              <a:sym typeface="Itim"/>
            </a:endParaRPr>
          </a:p>
          <a:p>
            <a:pPr indent="-298450" lvl="0" marL="457200" rtl="0" algn="l">
              <a:spcBef>
                <a:spcPts val="1200"/>
              </a:spcBef>
              <a:spcAft>
                <a:spcPts val="0"/>
              </a:spcAft>
              <a:buClr>
                <a:schemeClr val="dk1"/>
              </a:buClr>
              <a:buSzPts val="1100"/>
              <a:buFont typeface="Itim"/>
              <a:buChar char="●"/>
            </a:pPr>
            <a:r>
              <a:rPr lang="en" sz="1100">
                <a:solidFill>
                  <a:schemeClr val="dk1"/>
                </a:solidFill>
                <a:latin typeface="Itim"/>
                <a:ea typeface="Itim"/>
                <a:cs typeface="Itim"/>
                <a:sym typeface="Itim"/>
              </a:rPr>
              <a:t>Values align with community engagement and authenticity</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Enjoys local flavors and laid-back atmosphere</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Responsive to email ads for events or deals</a:t>
            </a:r>
            <a:endParaRPr sz="1100">
              <a:solidFill>
                <a:schemeClr val="dk1"/>
              </a:solidFill>
              <a:latin typeface="Itim"/>
              <a:ea typeface="Itim"/>
              <a:cs typeface="Itim"/>
              <a:sym typeface="Itim"/>
            </a:endParaRPr>
          </a:p>
          <a:p>
            <a:pPr indent="0" lvl="0" marL="0" rtl="0" algn="l">
              <a:spcBef>
                <a:spcPts val="1200"/>
              </a:spcBef>
              <a:spcAft>
                <a:spcPts val="1200"/>
              </a:spcAft>
              <a:buNone/>
            </a:pPr>
            <a:r>
              <a:t/>
            </a:r>
            <a:endParaRPr sz="900">
              <a:solidFill>
                <a:schemeClr val="dk1"/>
              </a:solidFill>
              <a:latin typeface="Itim"/>
              <a:ea typeface="Itim"/>
              <a:cs typeface="Itim"/>
              <a:sym typeface="Itim"/>
            </a:endParaRPr>
          </a:p>
        </p:txBody>
      </p:sp>
      <p:sp>
        <p:nvSpPr>
          <p:cNvPr id="159" name="Google Shape;159;p20"/>
          <p:cNvSpPr/>
          <p:nvPr/>
        </p:nvSpPr>
        <p:spPr>
          <a:xfrm>
            <a:off x="4928700" y="1187550"/>
            <a:ext cx="3903600" cy="38145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Itim"/>
              <a:ea typeface="Itim"/>
              <a:cs typeface="Itim"/>
              <a:sym typeface="Itim"/>
            </a:endParaRPr>
          </a:p>
          <a:p>
            <a:pPr indent="0" lvl="0" marL="0" rtl="0" algn="ctr">
              <a:spcBef>
                <a:spcPts val="0"/>
              </a:spcBef>
              <a:spcAft>
                <a:spcPts val="0"/>
              </a:spcAft>
              <a:buClr>
                <a:srgbClr val="000000"/>
              </a:buClr>
              <a:buSzPts val="1100"/>
              <a:buFont typeface="Arial"/>
              <a:buNone/>
            </a:pPr>
            <a:r>
              <a:t/>
            </a:r>
            <a:endParaRPr sz="1600">
              <a:latin typeface="Itim"/>
              <a:ea typeface="Itim"/>
              <a:cs typeface="Itim"/>
              <a:sym typeface="Itim"/>
            </a:endParaRPr>
          </a:p>
        </p:txBody>
      </p:sp>
      <p:sp>
        <p:nvSpPr>
          <p:cNvPr id="160" name="Google Shape;160;p20"/>
          <p:cNvSpPr txBox="1"/>
          <p:nvPr>
            <p:ph idx="1" type="body"/>
          </p:nvPr>
        </p:nvSpPr>
        <p:spPr>
          <a:xfrm>
            <a:off x="5217150" y="1187550"/>
            <a:ext cx="3326700" cy="38145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Name: Melissa Davis</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Age: 27</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Location: Raleigh, NC</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Occupation: Communications Specialist</a:t>
            </a:r>
            <a:endParaRPr sz="1100">
              <a:solidFill>
                <a:schemeClr val="dk1"/>
              </a:solidFill>
              <a:latin typeface="Itim"/>
              <a:ea typeface="Itim"/>
              <a:cs typeface="Itim"/>
              <a:sym typeface="Itim"/>
            </a:endParaRPr>
          </a:p>
          <a:p>
            <a:pPr indent="0" lvl="0" marL="0" rtl="0" algn="ctr">
              <a:spcBef>
                <a:spcPts val="1200"/>
              </a:spcBef>
              <a:spcAft>
                <a:spcPts val="0"/>
              </a:spcAft>
              <a:buClr>
                <a:schemeClr val="dk1"/>
              </a:buClr>
              <a:buSzPts val="1100"/>
              <a:buFont typeface="Arial"/>
              <a:buNone/>
            </a:pPr>
            <a:r>
              <a:rPr lang="en" sz="1100" u="sng">
                <a:solidFill>
                  <a:schemeClr val="dk1"/>
                </a:solidFill>
                <a:latin typeface="Itim"/>
                <a:ea typeface="Itim"/>
                <a:cs typeface="Itim"/>
                <a:sym typeface="Itim"/>
              </a:rPr>
              <a:t>Psychographics</a:t>
            </a:r>
            <a:endParaRPr sz="1100" u="sng">
              <a:solidFill>
                <a:schemeClr val="dk1"/>
              </a:solidFill>
              <a:latin typeface="Itim"/>
              <a:ea typeface="Itim"/>
              <a:cs typeface="Itim"/>
              <a:sym typeface="Itim"/>
            </a:endParaRPr>
          </a:p>
          <a:p>
            <a:pPr indent="-298450" lvl="0" marL="457200" rtl="0" algn="l">
              <a:spcBef>
                <a:spcPts val="1200"/>
              </a:spcBef>
              <a:spcAft>
                <a:spcPts val="0"/>
              </a:spcAft>
              <a:buClr>
                <a:schemeClr val="dk1"/>
              </a:buClr>
              <a:buSzPts val="1100"/>
              <a:buFont typeface="Itim"/>
              <a:buChar char="●"/>
            </a:pPr>
            <a:r>
              <a:rPr lang="en" sz="1100">
                <a:solidFill>
                  <a:schemeClr val="dk1"/>
                </a:solidFill>
                <a:latin typeface="Itim"/>
                <a:ea typeface="Itim"/>
                <a:cs typeface="Itim"/>
                <a:sym typeface="Itim"/>
              </a:rPr>
              <a:t>Values: Friendships, Consistency, Sustainability</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Interests: Travelling, Photography, Her dog</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Social Media: Active on Instagram and TikTok</a:t>
            </a:r>
            <a:endParaRPr sz="1100">
              <a:solidFill>
                <a:schemeClr val="dk1"/>
              </a:solidFill>
              <a:latin typeface="Itim"/>
              <a:ea typeface="Itim"/>
              <a:cs typeface="Itim"/>
              <a:sym typeface="Itim"/>
            </a:endParaRPr>
          </a:p>
          <a:p>
            <a:pPr indent="0" lvl="0" marL="0" rtl="0" algn="ctr">
              <a:spcBef>
                <a:spcPts val="1200"/>
              </a:spcBef>
              <a:spcAft>
                <a:spcPts val="0"/>
              </a:spcAft>
              <a:buClr>
                <a:schemeClr val="dk1"/>
              </a:buClr>
              <a:buSzPts val="1100"/>
              <a:buFont typeface="Arial"/>
              <a:buNone/>
            </a:pPr>
            <a:r>
              <a:rPr lang="en" sz="1100" u="sng">
                <a:solidFill>
                  <a:schemeClr val="dk1"/>
                </a:solidFill>
                <a:latin typeface="Itim"/>
                <a:ea typeface="Itim"/>
                <a:cs typeface="Itim"/>
                <a:sym typeface="Itim"/>
              </a:rPr>
              <a:t>Connection to East Bower:</a:t>
            </a:r>
            <a:endParaRPr sz="1100" u="sng">
              <a:solidFill>
                <a:schemeClr val="dk1"/>
              </a:solidFill>
              <a:latin typeface="Itim"/>
              <a:ea typeface="Itim"/>
              <a:cs typeface="Itim"/>
              <a:sym typeface="Itim"/>
            </a:endParaRPr>
          </a:p>
          <a:p>
            <a:pPr indent="-298450" lvl="0" marL="457200" rtl="0" algn="l">
              <a:spcBef>
                <a:spcPts val="1200"/>
              </a:spcBef>
              <a:spcAft>
                <a:spcPts val="0"/>
              </a:spcAft>
              <a:buClr>
                <a:schemeClr val="dk1"/>
              </a:buClr>
              <a:buSzPts val="1100"/>
              <a:buFont typeface="Itim"/>
              <a:buChar char="●"/>
            </a:pPr>
            <a:r>
              <a:rPr lang="en" sz="1100">
                <a:solidFill>
                  <a:schemeClr val="dk1"/>
                </a:solidFill>
                <a:latin typeface="Itim"/>
                <a:ea typeface="Itim"/>
                <a:cs typeface="Itim"/>
                <a:sym typeface="Itim"/>
              </a:rPr>
              <a:t>Sees EBCC has a place to relax with friends after a long day of work</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Enjoys the nice atmosphere and the music selection (most importantly)</a:t>
            </a:r>
            <a:endParaRPr sz="1100">
              <a:solidFill>
                <a:schemeClr val="dk1"/>
              </a:solidFill>
              <a:latin typeface="Itim"/>
              <a:ea typeface="Itim"/>
              <a:cs typeface="Itim"/>
              <a:sym typeface="Itim"/>
            </a:endParaRPr>
          </a:p>
          <a:p>
            <a:pPr indent="-298450" lvl="0" marL="457200" rtl="0" algn="l">
              <a:spcBef>
                <a:spcPts val="0"/>
              </a:spcBef>
              <a:spcAft>
                <a:spcPts val="0"/>
              </a:spcAft>
              <a:buClr>
                <a:schemeClr val="dk1"/>
              </a:buClr>
              <a:buSzPts val="1100"/>
              <a:buFont typeface="Itim"/>
              <a:buChar char="●"/>
            </a:pPr>
            <a:r>
              <a:rPr lang="en" sz="1100">
                <a:solidFill>
                  <a:schemeClr val="dk1"/>
                </a:solidFill>
                <a:latin typeface="Itim"/>
                <a:ea typeface="Itim"/>
                <a:cs typeface="Itim"/>
                <a:sym typeface="Itim"/>
              </a:rPr>
              <a:t>Looks out for EBCC events on Instagram</a:t>
            </a:r>
            <a:endParaRPr sz="1100">
              <a:solidFill>
                <a:schemeClr val="dk1"/>
              </a:solidFill>
              <a:latin typeface="Itim"/>
              <a:ea typeface="Itim"/>
              <a:cs typeface="Itim"/>
              <a:sym typeface="Itim"/>
            </a:endParaRPr>
          </a:p>
          <a:p>
            <a:pPr indent="0" lvl="0" marL="0" rtl="0" algn="l">
              <a:spcBef>
                <a:spcPts val="1200"/>
              </a:spcBef>
              <a:spcAft>
                <a:spcPts val="1200"/>
              </a:spcAft>
              <a:buNone/>
            </a:pPr>
            <a:r>
              <a:t/>
            </a:r>
            <a:endParaRPr sz="900">
              <a:solidFill>
                <a:schemeClr val="dk1"/>
              </a:solidFill>
              <a:latin typeface="Itim"/>
              <a:ea typeface="Itim"/>
              <a:cs typeface="Itim"/>
              <a:sym typeface="Itim"/>
            </a:endParaRPr>
          </a:p>
        </p:txBody>
      </p:sp>
      <p:pic>
        <p:nvPicPr>
          <p:cNvPr id="161" name="Google Shape;161;p20"/>
          <p:cNvPicPr preferRelativeResize="0"/>
          <p:nvPr/>
        </p:nvPicPr>
        <p:blipFill rotWithShape="1">
          <a:blip r:embed="rId4">
            <a:alphaModFix/>
          </a:blip>
          <a:srcRect b="7232" l="50159" r="28892" t="48503"/>
          <a:stretch/>
        </p:blipFill>
        <p:spPr>
          <a:xfrm rot="-9681839">
            <a:off x="7705036" y="3032064"/>
            <a:ext cx="2315729" cy="3041547"/>
          </a:xfrm>
          <a:prstGeom prst="rect">
            <a:avLst/>
          </a:prstGeom>
          <a:noFill/>
          <a:ln>
            <a:noFill/>
          </a:ln>
        </p:spPr>
      </p:pic>
      <p:pic>
        <p:nvPicPr>
          <p:cNvPr id="162" name="Google Shape;162;p20"/>
          <p:cNvPicPr preferRelativeResize="0"/>
          <p:nvPr/>
        </p:nvPicPr>
        <p:blipFill rotWithShape="1">
          <a:blip r:embed="rId5">
            <a:alphaModFix/>
          </a:blip>
          <a:srcRect b="14273" l="22796" r="16878" t="0"/>
          <a:stretch/>
        </p:blipFill>
        <p:spPr>
          <a:xfrm>
            <a:off x="1652975" y="49600"/>
            <a:ext cx="1022350" cy="1043125"/>
          </a:xfrm>
          <a:prstGeom prst="rect">
            <a:avLst/>
          </a:prstGeom>
          <a:noFill/>
          <a:ln cap="flat" cmpd="sng" w="38100">
            <a:solidFill>
              <a:schemeClr val="lt1"/>
            </a:solidFill>
            <a:prstDash val="solid"/>
            <a:round/>
            <a:headEnd len="sm" w="sm" type="none"/>
            <a:tailEnd len="sm" w="sm" type="none"/>
          </a:ln>
        </p:spPr>
      </p:pic>
      <p:pic>
        <p:nvPicPr>
          <p:cNvPr id="163" name="Google Shape;163;p20"/>
          <p:cNvPicPr preferRelativeResize="0"/>
          <p:nvPr/>
        </p:nvPicPr>
        <p:blipFill rotWithShape="1">
          <a:blip r:embed="rId6">
            <a:alphaModFix/>
          </a:blip>
          <a:srcRect b="0" l="29413" r="0" t="0"/>
          <a:stretch/>
        </p:blipFill>
        <p:spPr>
          <a:xfrm>
            <a:off x="6492975" y="49600"/>
            <a:ext cx="1022350" cy="1043125"/>
          </a:xfrm>
          <a:prstGeom prst="rect">
            <a:avLst/>
          </a:prstGeom>
          <a:noFill/>
          <a:ln cap="flat" cmpd="sng" w="38100">
            <a:solidFill>
              <a:schemeClr val="lt1"/>
            </a:solidFill>
            <a:prstDash val="solid"/>
            <a:round/>
            <a:headEnd len="sm" w="sm" type="none"/>
            <a:tailEnd len="sm" w="sm" type="none"/>
          </a:ln>
        </p:spPr>
      </p:pic>
      <p:pic>
        <p:nvPicPr>
          <p:cNvPr id="164" name="Google Shape;164;p20"/>
          <p:cNvPicPr preferRelativeResize="0"/>
          <p:nvPr/>
        </p:nvPicPr>
        <p:blipFill>
          <a:blip r:embed="rId7">
            <a:alphaModFix/>
          </a:blip>
          <a:stretch>
            <a:fillRect/>
          </a:stretch>
        </p:blipFill>
        <p:spPr>
          <a:xfrm rot="1221710">
            <a:off x="-205966" y="-27331"/>
            <a:ext cx="1322481" cy="29609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1"/>
          <p:cNvSpPr txBox="1"/>
          <p:nvPr>
            <p:ph type="title"/>
          </p:nvPr>
        </p:nvSpPr>
        <p:spPr>
          <a:xfrm>
            <a:off x="0" y="266550"/>
            <a:ext cx="9144000" cy="5727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rgbClr val="96591A"/>
                </a:solidFill>
                <a:latin typeface="Sriracha"/>
                <a:ea typeface="Sriracha"/>
                <a:cs typeface="Sriracha"/>
                <a:sym typeface="Sriracha"/>
              </a:rPr>
              <a:t>Vehicles for Creative</a:t>
            </a:r>
            <a:endParaRPr>
              <a:solidFill>
                <a:srgbClr val="96591A"/>
              </a:solidFill>
              <a:latin typeface="Sriracha"/>
              <a:ea typeface="Sriracha"/>
              <a:cs typeface="Sriracha"/>
              <a:sym typeface="Sriracha"/>
            </a:endParaRPr>
          </a:p>
        </p:txBody>
      </p:sp>
      <p:sp>
        <p:nvSpPr>
          <p:cNvPr id="170" name="Google Shape;170;p21"/>
          <p:cNvSpPr/>
          <p:nvPr/>
        </p:nvSpPr>
        <p:spPr>
          <a:xfrm>
            <a:off x="483025" y="975125"/>
            <a:ext cx="3191400" cy="2150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Itim"/>
                <a:ea typeface="Itim"/>
                <a:cs typeface="Itim"/>
                <a:sym typeface="Itim"/>
              </a:rPr>
              <a:t>Instagram Revamp</a:t>
            </a:r>
            <a:endParaRPr b="1" sz="1600">
              <a:latin typeface="Itim"/>
              <a:ea typeface="Itim"/>
              <a:cs typeface="Itim"/>
              <a:sym typeface="Itim"/>
            </a:endParaRPr>
          </a:p>
          <a:p>
            <a:pPr indent="0" lvl="0" marL="0" rtl="0" algn="ctr">
              <a:spcBef>
                <a:spcPts val="0"/>
              </a:spcBef>
              <a:spcAft>
                <a:spcPts val="0"/>
              </a:spcAft>
              <a:buNone/>
            </a:pPr>
            <a:r>
              <a:t/>
            </a:r>
            <a:endParaRPr sz="1600">
              <a:latin typeface="Itim"/>
              <a:ea typeface="Itim"/>
              <a:cs typeface="Itim"/>
              <a:sym typeface="Itim"/>
            </a:endParaRPr>
          </a:p>
          <a:p>
            <a:pPr indent="0" lvl="0" marL="0" rtl="0" algn="l">
              <a:spcBef>
                <a:spcPts val="0"/>
              </a:spcBef>
              <a:spcAft>
                <a:spcPts val="0"/>
              </a:spcAft>
              <a:buNone/>
            </a:pPr>
            <a:r>
              <a:rPr lang="en" sz="1600">
                <a:latin typeface="Itim"/>
                <a:ea typeface="Itim"/>
                <a:cs typeface="Itim"/>
                <a:sym typeface="Itim"/>
              </a:rPr>
              <a:t>-</a:t>
            </a:r>
            <a:r>
              <a:rPr lang="en" sz="1600">
                <a:latin typeface="Itim"/>
                <a:ea typeface="Itim"/>
                <a:cs typeface="Itim"/>
                <a:sym typeface="Itim"/>
              </a:rPr>
              <a:t>Introduce a weekly calendar</a:t>
            </a:r>
            <a:endParaRPr sz="1600">
              <a:latin typeface="Itim"/>
              <a:ea typeface="Itim"/>
              <a:cs typeface="Itim"/>
              <a:sym typeface="Itim"/>
            </a:endParaRPr>
          </a:p>
          <a:p>
            <a:pPr indent="0" lvl="0" marL="0" rtl="0" algn="l">
              <a:spcBef>
                <a:spcPts val="0"/>
              </a:spcBef>
              <a:spcAft>
                <a:spcPts val="0"/>
              </a:spcAft>
              <a:buNone/>
            </a:pPr>
            <a:r>
              <a:t/>
            </a:r>
            <a:endParaRPr sz="1600">
              <a:latin typeface="Itim"/>
              <a:ea typeface="Itim"/>
              <a:cs typeface="Itim"/>
              <a:sym typeface="Itim"/>
            </a:endParaRPr>
          </a:p>
          <a:p>
            <a:pPr indent="0" lvl="0" marL="0" rtl="0" algn="l">
              <a:spcBef>
                <a:spcPts val="0"/>
              </a:spcBef>
              <a:spcAft>
                <a:spcPts val="0"/>
              </a:spcAft>
              <a:buNone/>
            </a:pPr>
            <a:r>
              <a:rPr lang="en" sz="1600">
                <a:latin typeface="Itim"/>
                <a:ea typeface="Itim"/>
                <a:cs typeface="Itim"/>
                <a:sym typeface="Itim"/>
              </a:rPr>
              <a:t>-Family-Oriented Post</a:t>
            </a:r>
            <a:endParaRPr sz="1600">
              <a:latin typeface="Itim"/>
              <a:ea typeface="Itim"/>
              <a:cs typeface="Itim"/>
              <a:sym typeface="Itim"/>
            </a:endParaRPr>
          </a:p>
          <a:p>
            <a:pPr indent="0" lvl="0" marL="0" rtl="0" algn="l">
              <a:spcBef>
                <a:spcPts val="0"/>
              </a:spcBef>
              <a:spcAft>
                <a:spcPts val="0"/>
              </a:spcAft>
              <a:buNone/>
            </a:pPr>
            <a:r>
              <a:t/>
            </a:r>
            <a:endParaRPr sz="1600">
              <a:latin typeface="Itim"/>
              <a:ea typeface="Itim"/>
              <a:cs typeface="Itim"/>
              <a:sym typeface="Itim"/>
            </a:endParaRPr>
          </a:p>
          <a:p>
            <a:pPr indent="0" lvl="0" marL="0" rtl="0" algn="l">
              <a:spcBef>
                <a:spcPts val="0"/>
              </a:spcBef>
              <a:spcAft>
                <a:spcPts val="0"/>
              </a:spcAft>
              <a:buNone/>
            </a:pPr>
            <a:r>
              <a:rPr lang="en" sz="1600">
                <a:latin typeface="Itim"/>
                <a:ea typeface="Itim"/>
                <a:cs typeface="Itim"/>
                <a:sym typeface="Itim"/>
              </a:rPr>
              <a:t>-User Generated Content</a:t>
            </a:r>
            <a:endParaRPr sz="1600">
              <a:latin typeface="Itim"/>
              <a:ea typeface="Itim"/>
              <a:cs typeface="Itim"/>
              <a:sym typeface="Itim"/>
            </a:endParaRPr>
          </a:p>
          <a:p>
            <a:pPr indent="0" lvl="0" marL="0" rtl="0" algn="ctr">
              <a:spcBef>
                <a:spcPts val="0"/>
              </a:spcBef>
              <a:spcAft>
                <a:spcPts val="0"/>
              </a:spcAft>
              <a:buNone/>
            </a:pPr>
            <a:r>
              <a:t/>
            </a:r>
            <a:endParaRPr sz="1600">
              <a:latin typeface="Itim"/>
              <a:ea typeface="Itim"/>
              <a:cs typeface="Itim"/>
              <a:sym typeface="Itim"/>
            </a:endParaRPr>
          </a:p>
        </p:txBody>
      </p:sp>
      <p:sp>
        <p:nvSpPr>
          <p:cNvPr id="171" name="Google Shape;171;p21"/>
          <p:cNvSpPr/>
          <p:nvPr/>
        </p:nvSpPr>
        <p:spPr>
          <a:xfrm>
            <a:off x="3798850" y="2687000"/>
            <a:ext cx="3191400" cy="2225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latin typeface="Itim"/>
              <a:ea typeface="Itim"/>
              <a:cs typeface="Itim"/>
              <a:sym typeface="Itim"/>
            </a:endParaRPr>
          </a:p>
          <a:p>
            <a:pPr indent="0" lvl="0" marL="0" rtl="0" algn="ctr">
              <a:spcBef>
                <a:spcPts val="0"/>
              </a:spcBef>
              <a:spcAft>
                <a:spcPts val="0"/>
              </a:spcAft>
              <a:buNone/>
            </a:pPr>
            <a:r>
              <a:rPr b="1" lang="en" sz="1600">
                <a:latin typeface="Itim"/>
                <a:ea typeface="Itim"/>
                <a:cs typeface="Itim"/>
                <a:sym typeface="Itim"/>
              </a:rPr>
              <a:t>Customer Interaction</a:t>
            </a:r>
            <a:endParaRPr b="1" sz="1600">
              <a:latin typeface="Itim"/>
              <a:ea typeface="Itim"/>
              <a:cs typeface="Itim"/>
              <a:sym typeface="Itim"/>
            </a:endParaRPr>
          </a:p>
          <a:p>
            <a:pPr indent="0" lvl="0" marL="0" rtl="0" algn="ctr">
              <a:spcBef>
                <a:spcPts val="0"/>
              </a:spcBef>
              <a:spcAft>
                <a:spcPts val="0"/>
              </a:spcAft>
              <a:buNone/>
            </a:pPr>
            <a:r>
              <a:t/>
            </a:r>
            <a:endParaRPr sz="1600">
              <a:latin typeface="Itim"/>
              <a:ea typeface="Itim"/>
              <a:cs typeface="Itim"/>
              <a:sym typeface="Itim"/>
            </a:endParaRPr>
          </a:p>
          <a:p>
            <a:pPr indent="0" lvl="0" marL="0" rtl="0" algn="l">
              <a:spcBef>
                <a:spcPts val="0"/>
              </a:spcBef>
              <a:spcAft>
                <a:spcPts val="0"/>
              </a:spcAft>
              <a:buNone/>
            </a:pPr>
            <a:r>
              <a:rPr lang="en" sz="1600">
                <a:latin typeface="Itim"/>
                <a:ea typeface="Itim"/>
                <a:cs typeface="Itim"/>
                <a:sym typeface="Itim"/>
              </a:rPr>
              <a:t>-Customer ‘takeover’ – #ebcc, #eastbower, #showushowyoucider</a:t>
            </a:r>
            <a:endParaRPr sz="1600">
              <a:latin typeface="Itim"/>
              <a:ea typeface="Itim"/>
              <a:cs typeface="Itim"/>
              <a:sym typeface="Itim"/>
            </a:endParaRPr>
          </a:p>
          <a:p>
            <a:pPr indent="0" lvl="0" marL="0" rtl="0" algn="ctr">
              <a:spcBef>
                <a:spcPts val="0"/>
              </a:spcBef>
              <a:spcAft>
                <a:spcPts val="0"/>
              </a:spcAft>
              <a:buNone/>
            </a:pPr>
            <a:r>
              <a:t/>
            </a:r>
            <a:endParaRPr sz="1600">
              <a:latin typeface="Itim"/>
              <a:ea typeface="Itim"/>
              <a:cs typeface="Itim"/>
              <a:sym typeface="Itim"/>
            </a:endParaRPr>
          </a:p>
          <a:p>
            <a:pPr indent="0" lvl="0" marL="0" rtl="0" algn="l">
              <a:spcBef>
                <a:spcPts val="0"/>
              </a:spcBef>
              <a:spcAft>
                <a:spcPts val="0"/>
              </a:spcAft>
              <a:buNone/>
            </a:pPr>
            <a:r>
              <a:rPr lang="en" sz="1600">
                <a:latin typeface="Itim"/>
                <a:ea typeface="Itim"/>
                <a:cs typeface="Itim"/>
                <a:sym typeface="Itim"/>
              </a:rPr>
              <a:t>-Customer testimonials</a:t>
            </a:r>
            <a:endParaRPr sz="1600">
              <a:latin typeface="Itim"/>
              <a:ea typeface="Itim"/>
              <a:cs typeface="Itim"/>
              <a:sym typeface="Itim"/>
            </a:endParaRPr>
          </a:p>
          <a:p>
            <a:pPr indent="0" lvl="0" marL="0" rtl="0" algn="ctr">
              <a:spcBef>
                <a:spcPts val="0"/>
              </a:spcBef>
              <a:spcAft>
                <a:spcPts val="0"/>
              </a:spcAft>
              <a:buNone/>
            </a:pPr>
            <a:r>
              <a:t/>
            </a:r>
            <a:endParaRPr>
              <a:latin typeface="Itim"/>
              <a:ea typeface="Itim"/>
              <a:cs typeface="Itim"/>
              <a:sym typeface="Itim"/>
            </a:endParaRPr>
          </a:p>
          <a:p>
            <a:pPr indent="0" lvl="0" marL="0" rtl="0" algn="ctr">
              <a:spcBef>
                <a:spcPts val="0"/>
              </a:spcBef>
              <a:spcAft>
                <a:spcPts val="0"/>
              </a:spcAft>
              <a:buNone/>
            </a:pPr>
            <a:r>
              <a:t/>
            </a:r>
            <a:endParaRPr>
              <a:latin typeface="Itim"/>
              <a:ea typeface="Itim"/>
              <a:cs typeface="Itim"/>
              <a:sym typeface="Itim"/>
            </a:endParaRPr>
          </a:p>
          <a:p>
            <a:pPr indent="0" lvl="0" marL="0" rtl="0" algn="ctr">
              <a:spcBef>
                <a:spcPts val="0"/>
              </a:spcBef>
              <a:spcAft>
                <a:spcPts val="0"/>
              </a:spcAft>
              <a:buNone/>
            </a:pPr>
            <a:r>
              <a:t/>
            </a:r>
            <a:endParaRPr>
              <a:latin typeface="Itim"/>
              <a:ea typeface="Itim"/>
              <a:cs typeface="Itim"/>
              <a:sym typeface="Itim"/>
            </a:endParaRPr>
          </a:p>
        </p:txBody>
      </p:sp>
      <p:pic>
        <p:nvPicPr>
          <p:cNvPr id="172" name="Google Shape;172;p21"/>
          <p:cNvPicPr preferRelativeResize="0"/>
          <p:nvPr/>
        </p:nvPicPr>
        <p:blipFill>
          <a:blip r:embed="rId4">
            <a:alphaModFix/>
          </a:blip>
          <a:stretch>
            <a:fillRect/>
          </a:stretch>
        </p:blipFill>
        <p:spPr>
          <a:xfrm rot="2532345">
            <a:off x="-1161060" y="2164404"/>
            <a:ext cx="2177516" cy="3145976"/>
          </a:xfrm>
          <a:prstGeom prst="rect">
            <a:avLst/>
          </a:prstGeom>
          <a:noFill/>
          <a:ln>
            <a:noFill/>
          </a:ln>
        </p:spPr>
      </p:pic>
      <p:sp>
        <p:nvSpPr>
          <p:cNvPr id="173" name="Google Shape;173;p21"/>
          <p:cNvSpPr/>
          <p:nvPr/>
        </p:nvSpPr>
        <p:spPr>
          <a:xfrm>
            <a:off x="5372925" y="266550"/>
            <a:ext cx="3370500" cy="21030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Itim"/>
                <a:ea typeface="Itim"/>
                <a:cs typeface="Itim"/>
                <a:sym typeface="Itim"/>
              </a:rPr>
              <a:t>Behind the scenes</a:t>
            </a:r>
            <a:endParaRPr b="1" sz="1600">
              <a:latin typeface="Itim"/>
              <a:ea typeface="Itim"/>
              <a:cs typeface="Itim"/>
              <a:sym typeface="Itim"/>
            </a:endParaRPr>
          </a:p>
          <a:p>
            <a:pPr indent="0" lvl="0" marL="0" rtl="0" algn="ctr">
              <a:spcBef>
                <a:spcPts val="0"/>
              </a:spcBef>
              <a:spcAft>
                <a:spcPts val="0"/>
              </a:spcAft>
              <a:buNone/>
            </a:pPr>
            <a:r>
              <a:t/>
            </a:r>
            <a:endParaRPr sz="1600">
              <a:latin typeface="Itim"/>
              <a:ea typeface="Itim"/>
              <a:cs typeface="Itim"/>
              <a:sym typeface="Itim"/>
            </a:endParaRPr>
          </a:p>
          <a:p>
            <a:pPr indent="0" lvl="0" marL="0" rtl="0" algn="l">
              <a:spcBef>
                <a:spcPts val="0"/>
              </a:spcBef>
              <a:spcAft>
                <a:spcPts val="0"/>
              </a:spcAft>
              <a:buNone/>
            </a:pPr>
            <a:r>
              <a:rPr lang="en" sz="1600">
                <a:latin typeface="Itim"/>
                <a:ea typeface="Itim"/>
                <a:cs typeface="Itim"/>
                <a:sym typeface="Itim"/>
              </a:rPr>
              <a:t>-Process behind creating cider</a:t>
            </a:r>
            <a:endParaRPr sz="1600">
              <a:latin typeface="Itim"/>
              <a:ea typeface="Itim"/>
              <a:cs typeface="Itim"/>
              <a:sym typeface="Itim"/>
            </a:endParaRPr>
          </a:p>
          <a:p>
            <a:pPr indent="0" lvl="0" marL="0" rtl="0" algn="ctr">
              <a:spcBef>
                <a:spcPts val="0"/>
              </a:spcBef>
              <a:spcAft>
                <a:spcPts val="0"/>
              </a:spcAft>
              <a:buNone/>
            </a:pPr>
            <a:r>
              <a:t/>
            </a:r>
            <a:endParaRPr sz="1600">
              <a:latin typeface="Itim"/>
              <a:ea typeface="Itim"/>
              <a:cs typeface="Itim"/>
              <a:sym typeface="Itim"/>
            </a:endParaRPr>
          </a:p>
          <a:p>
            <a:pPr indent="0" lvl="0" marL="0" rtl="0" algn="l">
              <a:spcBef>
                <a:spcPts val="0"/>
              </a:spcBef>
              <a:spcAft>
                <a:spcPts val="0"/>
              </a:spcAft>
              <a:buNone/>
            </a:pPr>
            <a:r>
              <a:rPr lang="en" sz="1600">
                <a:latin typeface="Itim"/>
                <a:ea typeface="Itim"/>
                <a:cs typeface="Itim"/>
                <a:sym typeface="Itim"/>
              </a:rPr>
              <a:t>-Employee takeover</a:t>
            </a:r>
            <a:endParaRPr sz="1600">
              <a:latin typeface="Itim"/>
              <a:ea typeface="Itim"/>
              <a:cs typeface="Itim"/>
              <a:sym typeface="Itim"/>
            </a:endParaRPr>
          </a:p>
          <a:p>
            <a:pPr indent="0" lvl="0" marL="0" rtl="0" algn="ctr">
              <a:spcBef>
                <a:spcPts val="0"/>
              </a:spcBef>
              <a:spcAft>
                <a:spcPts val="0"/>
              </a:spcAft>
              <a:buNone/>
            </a:pPr>
            <a:r>
              <a:t/>
            </a:r>
            <a:endParaRPr sz="1600">
              <a:latin typeface="Itim"/>
              <a:ea typeface="Itim"/>
              <a:cs typeface="Itim"/>
              <a:sym typeface="Itim"/>
            </a:endParaRPr>
          </a:p>
          <a:p>
            <a:pPr indent="0" lvl="0" marL="0" rtl="0" algn="l">
              <a:spcBef>
                <a:spcPts val="0"/>
              </a:spcBef>
              <a:spcAft>
                <a:spcPts val="0"/>
              </a:spcAft>
              <a:buNone/>
            </a:pPr>
            <a:r>
              <a:rPr lang="en" sz="1600">
                <a:solidFill>
                  <a:schemeClr val="dk1"/>
                </a:solidFill>
                <a:latin typeface="Itim"/>
                <a:ea typeface="Itim"/>
                <a:cs typeface="Itim"/>
                <a:sym typeface="Itim"/>
              </a:rPr>
              <a:t>-After-Event posts</a:t>
            </a:r>
            <a:endParaRPr sz="1600">
              <a:latin typeface="Itim"/>
              <a:ea typeface="Itim"/>
              <a:cs typeface="Itim"/>
              <a:sym typeface="Itim"/>
            </a:endParaRPr>
          </a:p>
          <a:p>
            <a:pPr indent="0" lvl="0" marL="0" rtl="0" algn="ctr">
              <a:spcBef>
                <a:spcPts val="0"/>
              </a:spcBef>
              <a:spcAft>
                <a:spcPts val="0"/>
              </a:spcAft>
              <a:buNone/>
            </a:pPr>
            <a:r>
              <a:t/>
            </a:r>
            <a:endParaRPr>
              <a:latin typeface="Itim"/>
              <a:ea typeface="Itim"/>
              <a:cs typeface="Itim"/>
              <a:sym typeface="Itim"/>
            </a:endParaRPr>
          </a:p>
        </p:txBody>
      </p:sp>
      <p:pic>
        <p:nvPicPr>
          <p:cNvPr id="174" name="Google Shape;174;p21"/>
          <p:cNvPicPr preferRelativeResize="0"/>
          <p:nvPr/>
        </p:nvPicPr>
        <p:blipFill rotWithShape="1">
          <a:blip r:embed="rId5">
            <a:alphaModFix/>
          </a:blip>
          <a:srcRect b="6263" l="84991" r="0" t="49473"/>
          <a:stretch/>
        </p:blipFill>
        <p:spPr>
          <a:xfrm rot="-9706634">
            <a:off x="7977245" y="-2304788"/>
            <a:ext cx="2132810" cy="3910178"/>
          </a:xfrm>
          <a:prstGeom prst="rect">
            <a:avLst/>
          </a:prstGeom>
          <a:noFill/>
          <a:ln>
            <a:noFill/>
          </a:ln>
        </p:spPr>
      </p:pic>
      <p:pic>
        <p:nvPicPr>
          <p:cNvPr id="175" name="Google Shape;175;p21"/>
          <p:cNvPicPr preferRelativeResize="0"/>
          <p:nvPr/>
        </p:nvPicPr>
        <p:blipFill>
          <a:blip r:embed="rId6">
            <a:alphaModFix/>
          </a:blip>
          <a:stretch>
            <a:fillRect/>
          </a:stretch>
        </p:blipFill>
        <p:spPr>
          <a:xfrm>
            <a:off x="6439400" y="2891175"/>
            <a:ext cx="3726399" cy="37263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22"/>
          <p:cNvPicPr preferRelativeResize="0"/>
          <p:nvPr/>
        </p:nvPicPr>
        <p:blipFill>
          <a:blip r:embed="rId3">
            <a:alphaModFix/>
          </a:blip>
          <a:stretch>
            <a:fillRect/>
          </a:stretch>
        </p:blipFill>
        <p:spPr>
          <a:xfrm rot="864584">
            <a:off x="-193842" y="1883629"/>
            <a:ext cx="1900072" cy="4254113"/>
          </a:xfrm>
          <a:prstGeom prst="rect">
            <a:avLst/>
          </a:prstGeom>
          <a:noFill/>
          <a:ln>
            <a:noFill/>
          </a:ln>
        </p:spPr>
      </p:pic>
      <p:sp>
        <p:nvSpPr>
          <p:cNvPr id="181" name="Google Shape;181;p22"/>
          <p:cNvSpPr txBox="1"/>
          <p:nvPr>
            <p:ph type="title"/>
          </p:nvPr>
        </p:nvSpPr>
        <p:spPr>
          <a:xfrm>
            <a:off x="0" y="266550"/>
            <a:ext cx="9144000" cy="5727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rgbClr val="96591A"/>
                </a:solidFill>
                <a:latin typeface="Sriracha"/>
                <a:ea typeface="Sriracha"/>
                <a:cs typeface="Sriracha"/>
                <a:sym typeface="Sriracha"/>
              </a:rPr>
              <a:t>Instagram Revamp</a:t>
            </a:r>
            <a:endParaRPr>
              <a:solidFill>
                <a:srgbClr val="96591A"/>
              </a:solidFill>
              <a:latin typeface="Sriracha"/>
              <a:ea typeface="Sriracha"/>
              <a:cs typeface="Sriracha"/>
              <a:sym typeface="Sriracha"/>
            </a:endParaRPr>
          </a:p>
        </p:txBody>
      </p:sp>
      <p:pic>
        <p:nvPicPr>
          <p:cNvPr id="182" name="Google Shape;182;p22"/>
          <p:cNvPicPr preferRelativeResize="0"/>
          <p:nvPr/>
        </p:nvPicPr>
        <p:blipFill>
          <a:blip r:embed="rId4">
            <a:alphaModFix/>
          </a:blip>
          <a:stretch>
            <a:fillRect/>
          </a:stretch>
        </p:blipFill>
        <p:spPr>
          <a:xfrm>
            <a:off x="1136262" y="1267350"/>
            <a:ext cx="6871475" cy="3449174"/>
          </a:xfrm>
          <a:prstGeom prst="rect">
            <a:avLst/>
          </a:prstGeom>
          <a:noFill/>
          <a:ln>
            <a:noFill/>
          </a:ln>
        </p:spPr>
      </p:pic>
      <p:pic>
        <p:nvPicPr>
          <p:cNvPr id="183" name="Google Shape;183;p22"/>
          <p:cNvPicPr preferRelativeResize="0"/>
          <p:nvPr/>
        </p:nvPicPr>
        <p:blipFill rotWithShape="1">
          <a:blip r:embed="rId5">
            <a:alphaModFix/>
          </a:blip>
          <a:srcRect b="7232" l="50159" r="28892" t="48503"/>
          <a:stretch/>
        </p:blipFill>
        <p:spPr>
          <a:xfrm flipH="1" rot="-7521317">
            <a:off x="7483336" y="-1069701"/>
            <a:ext cx="2674454" cy="3512694"/>
          </a:xfrm>
          <a:prstGeom prst="rect">
            <a:avLst/>
          </a:prstGeom>
          <a:noFill/>
          <a:ln>
            <a:noFill/>
          </a:ln>
        </p:spPr>
      </p:pic>
      <p:sp>
        <p:nvSpPr>
          <p:cNvPr id="184" name="Google Shape;184;p22"/>
          <p:cNvSpPr txBox="1"/>
          <p:nvPr/>
        </p:nvSpPr>
        <p:spPr>
          <a:xfrm>
            <a:off x="3072000" y="839262"/>
            <a:ext cx="3000000" cy="4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Itim"/>
                <a:ea typeface="Itim"/>
                <a:cs typeface="Itim"/>
                <a:sym typeface="Itim"/>
              </a:rPr>
              <a:t>Weekly Calendar (Idea)</a:t>
            </a:r>
            <a:endParaRPr b="1" sz="1600">
              <a:solidFill>
                <a:schemeClr val="dk1"/>
              </a:solidFill>
              <a:latin typeface="Itim"/>
              <a:ea typeface="Itim"/>
              <a:cs typeface="Itim"/>
              <a:sym typeface="Iti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3"/>
          <p:cNvPicPr preferRelativeResize="0"/>
          <p:nvPr/>
        </p:nvPicPr>
        <p:blipFill>
          <a:blip r:embed="rId3">
            <a:alphaModFix/>
          </a:blip>
          <a:stretch>
            <a:fillRect/>
          </a:stretch>
        </p:blipFill>
        <p:spPr>
          <a:xfrm rot="219426">
            <a:off x="-740776" y="2560753"/>
            <a:ext cx="1835502" cy="4109547"/>
          </a:xfrm>
          <a:prstGeom prst="rect">
            <a:avLst/>
          </a:prstGeom>
          <a:noFill/>
          <a:ln>
            <a:noFill/>
          </a:ln>
        </p:spPr>
      </p:pic>
      <p:sp>
        <p:nvSpPr>
          <p:cNvPr id="190" name="Google Shape;190;p23"/>
          <p:cNvSpPr txBox="1"/>
          <p:nvPr>
            <p:ph type="title"/>
          </p:nvPr>
        </p:nvSpPr>
        <p:spPr>
          <a:xfrm>
            <a:off x="0" y="266550"/>
            <a:ext cx="9144000" cy="5727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rgbClr val="96591A"/>
                </a:solidFill>
                <a:latin typeface="Sriracha"/>
                <a:ea typeface="Sriracha"/>
                <a:cs typeface="Sriracha"/>
                <a:sym typeface="Sriracha"/>
              </a:rPr>
              <a:t>Instagram Revamp</a:t>
            </a:r>
            <a:endParaRPr>
              <a:solidFill>
                <a:srgbClr val="96591A"/>
              </a:solidFill>
              <a:latin typeface="Sriracha"/>
              <a:ea typeface="Sriracha"/>
              <a:cs typeface="Sriracha"/>
              <a:sym typeface="Sriracha"/>
            </a:endParaRPr>
          </a:p>
        </p:txBody>
      </p:sp>
      <p:pic>
        <p:nvPicPr>
          <p:cNvPr id="191" name="Google Shape;191;p23"/>
          <p:cNvPicPr preferRelativeResize="0"/>
          <p:nvPr/>
        </p:nvPicPr>
        <p:blipFill rotWithShape="1">
          <a:blip r:embed="rId4">
            <a:alphaModFix/>
          </a:blip>
          <a:srcRect b="7232" l="50159" r="28892" t="48503"/>
          <a:stretch/>
        </p:blipFill>
        <p:spPr>
          <a:xfrm flipH="1" rot="-7553882">
            <a:off x="7491900" y="-966545"/>
            <a:ext cx="2709166" cy="3558278"/>
          </a:xfrm>
          <a:prstGeom prst="rect">
            <a:avLst/>
          </a:prstGeom>
          <a:noFill/>
          <a:ln>
            <a:noFill/>
          </a:ln>
        </p:spPr>
      </p:pic>
      <p:sp>
        <p:nvSpPr>
          <p:cNvPr id="192" name="Google Shape;192;p23"/>
          <p:cNvSpPr txBox="1"/>
          <p:nvPr/>
        </p:nvSpPr>
        <p:spPr>
          <a:xfrm>
            <a:off x="1177763" y="1037575"/>
            <a:ext cx="3000000" cy="4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Itim"/>
                <a:ea typeface="Itim"/>
                <a:cs typeface="Itim"/>
                <a:sym typeface="Itim"/>
              </a:rPr>
              <a:t>Weekly calendar (Previously)</a:t>
            </a:r>
            <a:endParaRPr b="1" sz="1600">
              <a:solidFill>
                <a:schemeClr val="dk1"/>
              </a:solidFill>
              <a:latin typeface="Itim"/>
              <a:ea typeface="Itim"/>
              <a:cs typeface="Itim"/>
              <a:sym typeface="Itim"/>
            </a:endParaRPr>
          </a:p>
        </p:txBody>
      </p:sp>
      <p:pic>
        <p:nvPicPr>
          <p:cNvPr id="193" name="Google Shape;193;p23"/>
          <p:cNvPicPr preferRelativeResize="0"/>
          <p:nvPr/>
        </p:nvPicPr>
        <p:blipFill>
          <a:blip r:embed="rId5">
            <a:alphaModFix/>
          </a:blip>
          <a:stretch>
            <a:fillRect/>
          </a:stretch>
        </p:blipFill>
        <p:spPr>
          <a:xfrm>
            <a:off x="878700" y="1442012"/>
            <a:ext cx="3598125" cy="3593651"/>
          </a:xfrm>
          <a:prstGeom prst="rect">
            <a:avLst/>
          </a:prstGeom>
          <a:noFill/>
          <a:ln>
            <a:noFill/>
          </a:ln>
        </p:spPr>
      </p:pic>
      <p:pic>
        <p:nvPicPr>
          <p:cNvPr id="194" name="Google Shape;194;p23"/>
          <p:cNvPicPr preferRelativeResize="0"/>
          <p:nvPr/>
        </p:nvPicPr>
        <p:blipFill>
          <a:blip r:embed="rId6">
            <a:alphaModFix/>
          </a:blip>
          <a:stretch>
            <a:fillRect/>
          </a:stretch>
        </p:blipFill>
        <p:spPr>
          <a:xfrm>
            <a:off x="4841788" y="1442000"/>
            <a:ext cx="3423500" cy="3593676"/>
          </a:xfrm>
          <a:prstGeom prst="rect">
            <a:avLst/>
          </a:prstGeom>
          <a:noFill/>
          <a:ln>
            <a:noFill/>
          </a:ln>
        </p:spPr>
      </p:pic>
      <p:sp>
        <p:nvSpPr>
          <p:cNvPr id="195" name="Google Shape;195;p23"/>
          <p:cNvSpPr txBox="1"/>
          <p:nvPr/>
        </p:nvSpPr>
        <p:spPr>
          <a:xfrm>
            <a:off x="5157388" y="1050763"/>
            <a:ext cx="3000000" cy="4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Itim"/>
                <a:ea typeface="Itim"/>
                <a:cs typeface="Itim"/>
                <a:sym typeface="Itim"/>
              </a:rPr>
              <a:t>Family-Oriented Post</a:t>
            </a:r>
            <a:endParaRPr b="1" sz="1600">
              <a:solidFill>
                <a:schemeClr val="dk1"/>
              </a:solidFill>
              <a:latin typeface="Itim"/>
              <a:ea typeface="Itim"/>
              <a:cs typeface="Itim"/>
              <a:sym typeface="Iti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4"/>
          <p:cNvSpPr txBox="1"/>
          <p:nvPr>
            <p:ph type="title"/>
          </p:nvPr>
        </p:nvSpPr>
        <p:spPr>
          <a:xfrm>
            <a:off x="0" y="266550"/>
            <a:ext cx="9144000" cy="5727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rgbClr val="96591A"/>
                </a:solidFill>
                <a:latin typeface="Sriracha"/>
                <a:ea typeface="Sriracha"/>
                <a:cs typeface="Sriracha"/>
                <a:sym typeface="Sriracha"/>
              </a:rPr>
              <a:t>Customer Interaction</a:t>
            </a:r>
            <a:endParaRPr>
              <a:solidFill>
                <a:srgbClr val="96591A"/>
              </a:solidFill>
              <a:latin typeface="Sriracha"/>
              <a:ea typeface="Sriracha"/>
              <a:cs typeface="Sriracha"/>
              <a:sym typeface="Sriracha"/>
            </a:endParaRPr>
          </a:p>
        </p:txBody>
      </p:sp>
      <p:pic>
        <p:nvPicPr>
          <p:cNvPr id="201" name="Google Shape;201;p24" title="IMG_0878.MOV">
            <a:hlinkClick r:id="rId3"/>
          </p:cNvPr>
          <p:cNvPicPr preferRelativeResize="0"/>
          <p:nvPr/>
        </p:nvPicPr>
        <p:blipFill>
          <a:blip r:embed="rId4">
            <a:alphaModFix/>
          </a:blip>
          <a:stretch>
            <a:fillRect/>
          </a:stretch>
        </p:blipFill>
        <p:spPr>
          <a:xfrm>
            <a:off x="4395925" y="1294175"/>
            <a:ext cx="2028175" cy="3605650"/>
          </a:xfrm>
          <a:prstGeom prst="rect">
            <a:avLst/>
          </a:prstGeom>
          <a:noFill/>
          <a:ln>
            <a:noFill/>
          </a:ln>
        </p:spPr>
      </p:pic>
      <p:sp>
        <p:nvSpPr>
          <p:cNvPr id="202" name="Google Shape;202;p24"/>
          <p:cNvSpPr txBox="1"/>
          <p:nvPr/>
        </p:nvSpPr>
        <p:spPr>
          <a:xfrm>
            <a:off x="4395863" y="879375"/>
            <a:ext cx="2028300" cy="38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Itim"/>
                <a:ea typeface="Itim"/>
                <a:cs typeface="Itim"/>
                <a:sym typeface="Itim"/>
              </a:rPr>
              <a:t>Testimonials</a:t>
            </a:r>
            <a:endParaRPr b="1" sz="1800">
              <a:solidFill>
                <a:schemeClr val="dk1"/>
              </a:solidFill>
              <a:latin typeface="Itim"/>
              <a:ea typeface="Itim"/>
              <a:cs typeface="Itim"/>
              <a:sym typeface="Itim"/>
            </a:endParaRPr>
          </a:p>
        </p:txBody>
      </p:sp>
      <p:sp>
        <p:nvSpPr>
          <p:cNvPr id="203" name="Google Shape;203;p24"/>
          <p:cNvSpPr txBox="1"/>
          <p:nvPr/>
        </p:nvSpPr>
        <p:spPr>
          <a:xfrm>
            <a:off x="6487475" y="1597000"/>
            <a:ext cx="24723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Itim"/>
                <a:ea typeface="Itim"/>
                <a:cs typeface="Itim"/>
                <a:sym typeface="Itim"/>
              </a:rPr>
              <a:t>What’s your go to drink?</a:t>
            </a:r>
            <a:endParaRPr>
              <a:latin typeface="Itim"/>
              <a:ea typeface="Itim"/>
              <a:cs typeface="Itim"/>
              <a:sym typeface="Itim"/>
            </a:endParaRPr>
          </a:p>
          <a:p>
            <a:pPr indent="0" lvl="0" marL="0" rtl="0" algn="l">
              <a:spcBef>
                <a:spcPts val="0"/>
              </a:spcBef>
              <a:spcAft>
                <a:spcPts val="0"/>
              </a:spcAft>
              <a:buNone/>
            </a:pPr>
            <a:r>
              <a:t/>
            </a:r>
            <a:endParaRPr>
              <a:latin typeface="Itim"/>
              <a:ea typeface="Itim"/>
              <a:cs typeface="Itim"/>
              <a:sym typeface="Itim"/>
            </a:endParaRPr>
          </a:p>
          <a:p>
            <a:pPr indent="0" lvl="0" marL="0" rtl="0" algn="l">
              <a:spcBef>
                <a:spcPts val="0"/>
              </a:spcBef>
              <a:spcAft>
                <a:spcPts val="0"/>
              </a:spcAft>
              <a:buNone/>
            </a:pPr>
            <a:r>
              <a:rPr lang="en">
                <a:latin typeface="Itim"/>
                <a:ea typeface="Itim"/>
                <a:cs typeface="Itim"/>
                <a:sym typeface="Itim"/>
              </a:rPr>
              <a:t>What do you like about the atmosphere?</a:t>
            </a:r>
            <a:endParaRPr>
              <a:latin typeface="Itim"/>
              <a:ea typeface="Itim"/>
              <a:cs typeface="Itim"/>
              <a:sym typeface="Itim"/>
            </a:endParaRPr>
          </a:p>
          <a:p>
            <a:pPr indent="0" lvl="0" marL="0" rtl="0" algn="l">
              <a:spcBef>
                <a:spcPts val="0"/>
              </a:spcBef>
              <a:spcAft>
                <a:spcPts val="0"/>
              </a:spcAft>
              <a:buNone/>
            </a:pPr>
            <a:r>
              <a:t/>
            </a:r>
            <a:endParaRPr>
              <a:latin typeface="Itim"/>
              <a:ea typeface="Itim"/>
              <a:cs typeface="Itim"/>
              <a:sym typeface="Itim"/>
            </a:endParaRPr>
          </a:p>
          <a:p>
            <a:pPr indent="0" lvl="0" marL="0" rtl="0" algn="l">
              <a:spcBef>
                <a:spcPts val="0"/>
              </a:spcBef>
              <a:spcAft>
                <a:spcPts val="0"/>
              </a:spcAft>
              <a:buNone/>
            </a:pPr>
            <a:r>
              <a:rPr lang="en">
                <a:latin typeface="Itim"/>
                <a:ea typeface="Itim"/>
                <a:cs typeface="Itim"/>
                <a:sym typeface="Itim"/>
              </a:rPr>
              <a:t>What keeps you coming back (why would you want to come back)?</a:t>
            </a:r>
            <a:endParaRPr>
              <a:latin typeface="Itim"/>
              <a:ea typeface="Itim"/>
              <a:cs typeface="Itim"/>
              <a:sym typeface="Itim"/>
            </a:endParaRPr>
          </a:p>
          <a:p>
            <a:pPr indent="0" lvl="0" marL="0" rtl="0" algn="l">
              <a:spcBef>
                <a:spcPts val="0"/>
              </a:spcBef>
              <a:spcAft>
                <a:spcPts val="0"/>
              </a:spcAft>
              <a:buNone/>
            </a:pPr>
            <a:r>
              <a:t/>
            </a:r>
            <a:endParaRPr>
              <a:latin typeface="Itim"/>
              <a:ea typeface="Itim"/>
              <a:cs typeface="Itim"/>
              <a:sym typeface="Itim"/>
            </a:endParaRPr>
          </a:p>
          <a:p>
            <a:pPr indent="0" lvl="0" marL="0" rtl="0" algn="l">
              <a:spcBef>
                <a:spcPts val="0"/>
              </a:spcBef>
              <a:spcAft>
                <a:spcPts val="0"/>
              </a:spcAft>
              <a:buNone/>
            </a:pPr>
            <a:r>
              <a:rPr lang="en">
                <a:latin typeface="Itim"/>
                <a:ea typeface="Itim"/>
                <a:cs typeface="Itim"/>
                <a:sym typeface="Itim"/>
              </a:rPr>
              <a:t>What’s your favorite thing about East Cider?</a:t>
            </a:r>
            <a:endParaRPr>
              <a:latin typeface="Itim"/>
              <a:ea typeface="Itim"/>
              <a:cs typeface="Itim"/>
              <a:sym typeface="Itim"/>
            </a:endParaRPr>
          </a:p>
          <a:p>
            <a:pPr indent="0" lvl="0" marL="0" rtl="0" algn="l">
              <a:spcBef>
                <a:spcPts val="0"/>
              </a:spcBef>
              <a:spcAft>
                <a:spcPts val="0"/>
              </a:spcAft>
              <a:buNone/>
            </a:pPr>
            <a:r>
              <a:t/>
            </a:r>
            <a:endParaRPr>
              <a:latin typeface="Itim"/>
              <a:ea typeface="Itim"/>
              <a:cs typeface="Itim"/>
              <a:sym typeface="Itim"/>
            </a:endParaRPr>
          </a:p>
        </p:txBody>
      </p:sp>
      <p:sp>
        <p:nvSpPr>
          <p:cNvPr id="204" name="Google Shape;204;p24"/>
          <p:cNvSpPr txBox="1"/>
          <p:nvPr/>
        </p:nvSpPr>
        <p:spPr>
          <a:xfrm>
            <a:off x="607699" y="879375"/>
            <a:ext cx="3198600" cy="38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Itim"/>
                <a:ea typeface="Itim"/>
                <a:cs typeface="Itim"/>
                <a:sym typeface="Itim"/>
              </a:rPr>
              <a:t>“Show us how you East Bower“</a:t>
            </a:r>
            <a:endParaRPr b="1" sz="1800">
              <a:solidFill>
                <a:schemeClr val="dk1"/>
              </a:solidFill>
              <a:latin typeface="Itim"/>
              <a:ea typeface="Itim"/>
              <a:cs typeface="Itim"/>
              <a:sym typeface="Itim"/>
            </a:endParaRPr>
          </a:p>
        </p:txBody>
      </p:sp>
      <p:pic>
        <p:nvPicPr>
          <p:cNvPr id="205" name="Google Shape;205;p24"/>
          <p:cNvPicPr preferRelativeResize="0"/>
          <p:nvPr/>
        </p:nvPicPr>
        <p:blipFill>
          <a:blip r:embed="rId5">
            <a:alphaModFix/>
          </a:blip>
          <a:stretch>
            <a:fillRect/>
          </a:stretch>
        </p:blipFill>
        <p:spPr>
          <a:xfrm rot="1704102">
            <a:off x="7117707" y="-350393"/>
            <a:ext cx="2933742" cy="2250779"/>
          </a:xfrm>
          <a:prstGeom prst="rect">
            <a:avLst/>
          </a:prstGeom>
          <a:noFill/>
          <a:ln>
            <a:noFill/>
          </a:ln>
        </p:spPr>
      </p:pic>
      <p:pic>
        <p:nvPicPr>
          <p:cNvPr id="206" name="Google Shape;206;p24"/>
          <p:cNvPicPr preferRelativeResize="0"/>
          <p:nvPr/>
        </p:nvPicPr>
        <p:blipFill rotWithShape="1">
          <a:blip r:embed="rId6">
            <a:alphaModFix/>
          </a:blip>
          <a:srcRect b="6263" l="84991" r="0" t="49473"/>
          <a:stretch/>
        </p:blipFill>
        <p:spPr>
          <a:xfrm rot="1258600">
            <a:off x="-326225" y="2226590"/>
            <a:ext cx="2191698" cy="4018085"/>
          </a:xfrm>
          <a:prstGeom prst="rect">
            <a:avLst/>
          </a:prstGeom>
          <a:noFill/>
          <a:ln>
            <a:noFill/>
          </a:ln>
        </p:spPr>
      </p:pic>
      <p:pic>
        <p:nvPicPr>
          <p:cNvPr id="207" name="Google Shape;207;p24" title="ssstik.io_1713888235738.mp4">
            <a:hlinkClick r:id="rId7"/>
          </p:cNvPr>
          <p:cNvPicPr preferRelativeResize="0"/>
          <p:nvPr/>
        </p:nvPicPr>
        <p:blipFill>
          <a:blip r:embed="rId8">
            <a:alphaModFix/>
          </a:blip>
          <a:stretch>
            <a:fillRect/>
          </a:stretch>
        </p:blipFill>
        <p:spPr>
          <a:xfrm>
            <a:off x="258175" y="1490188"/>
            <a:ext cx="1807775" cy="3213625"/>
          </a:xfrm>
          <a:prstGeom prst="rect">
            <a:avLst/>
          </a:prstGeom>
          <a:noFill/>
          <a:ln>
            <a:noFill/>
          </a:ln>
        </p:spPr>
      </p:pic>
      <p:pic>
        <p:nvPicPr>
          <p:cNvPr id="208" name="Google Shape;208;p24" title="ssstik.io_1713888080603.mp4">
            <a:hlinkClick r:id="rId9"/>
          </p:cNvPr>
          <p:cNvPicPr preferRelativeResize="0"/>
          <p:nvPr/>
        </p:nvPicPr>
        <p:blipFill>
          <a:blip r:embed="rId10">
            <a:alphaModFix/>
          </a:blip>
          <a:stretch>
            <a:fillRect/>
          </a:stretch>
        </p:blipFill>
        <p:spPr>
          <a:xfrm>
            <a:off x="2253275" y="1490188"/>
            <a:ext cx="1807775" cy="3213625"/>
          </a:xfrm>
          <a:prstGeom prst="rect">
            <a:avLst/>
          </a:prstGeom>
          <a:noFill/>
          <a:ln>
            <a:noFill/>
          </a:ln>
        </p:spPr>
      </p:pic>
      <p:sp>
        <p:nvSpPr>
          <p:cNvPr id="209" name="Google Shape;209;p24"/>
          <p:cNvSpPr/>
          <p:nvPr/>
        </p:nvSpPr>
        <p:spPr>
          <a:xfrm>
            <a:off x="74100" y="1294175"/>
            <a:ext cx="338700" cy="345000"/>
          </a:xfrm>
          <a:prstGeom prst="halfFrame">
            <a:avLst>
              <a:gd fmla="val 33333" name="adj1"/>
              <a:gd fmla="val 33333"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4"/>
          <p:cNvSpPr/>
          <p:nvPr/>
        </p:nvSpPr>
        <p:spPr>
          <a:xfrm rot="10800000">
            <a:off x="3934884" y="4554823"/>
            <a:ext cx="338700" cy="345000"/>
          </a:xfrm>
          <a:prstGeom prst="halfFrame">
            <a:avLst>
              <a:gd fmla="val 33333" name="adj1"/>
              <a:gd fmla="val 33333"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25"/>
          <p:cNvPicPr preferRelativeResize="0"/>
          <p:nvPr/>
        </p:nvPicPr>
        <p:blipFill>
          <a:blip r:embed="rId4">
            <a:alphaModFix/>
          </a:blip>
          <a:stretch>
            <a:fillRect/>
          </a:stretch>
        </p:blipFill>
        <p:spPr>
          <a:xfrm rot="1423433">
            <a:off x="7030138" y="-580489"/>
            <a:ext cx="2884826" cy="2213254"/>
          </a:xfrm>
          <a:prstGeom prst="rect">
            <a:avLst/>
          </a:prstGeom>
          <a:noFill/>
          <a:ln>
            <a:noFill/>
          </a:ln>
        </p:spPr>
      </p:pic>
      <p:pic>
        <p:nvPicPr>
          <p:cNvPr id="216" name="Google Shape;216;p25"/>
          <p:cNvPicPr preferRelativeResize="0"/>
          <p:nvPr/>
        </p:nvPicPr>
        <p:blipFill rotWithShape="1">
          <a:blip r:embed="rId5">
            <a:alphaModFix/>
          </a:blip>
          <a:srcRect b="7232" l="50159" r="28892" t="48503"/>
          <a:stretch/>
        </p:blipFill>
        <p:spPr>
          <a:xfrm>
            <a:off x="7712950" y="2952850"/>
            <a:ext cx="2525357" cy="3316874"/>
          </a:xfrm>
          <a:prstGeom prst="rect">
            <a:avLst/>
          </a:prstGeom>
          <a:noFill/>
          <a:ln>
            <a:noFill/>
          </a:ln>
        </p:spPr>
      </p:pic>
      <p:pic>
        <p:nvPicPr>
          <p:cNvPr id="217" name="Google Shape;217;p25"/>
          <p:cNvPicPr preferRelativeResize="0"/>
          <p:nvPr/>
        </p:nvPicPr>
        <p:blipFill>
          <a:blip r:embed="rId6">
            <a:alphaModFix/>
          </a:blip>
          <a:stretch>
            <a:fillRect/>
          </a:stretch>
        </p:blipFill>
        <p:spPr>
          <a:xfrm rot="1667156">
            <a:off x="-864758" y="-954217"/>
            <a:ext cx="2000488" cy="4478931"/>
          </a:xfrm>
          <a:prstGeom prst="rect">
            <a:avLst/>
          </a:prstGeom>
          <a:noFill/>
          <a:ln>
            <a:noFill/>
          </a:ln>
        </p:spPr>
      </p:pic>
      <p:sp>
        <p:nvSpPr>
          <p:cNvPr id="218" name="Google Shape;218;p25"/>
          <p:cNvSpPr txBox="1"/>
          <p:nvPr>
            <p:ph type="title"/>
          </p:nvPr>
        </p:nvSpPr>
        <p:spPr>
          <a:xfrm>
            <a:off x="0" y="266550"/>
            <a:ext cx="9144000" cy="5727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rgbClr val="96591A"/>
                </a:solidFill>
                <a:latin typeface="Sriracha"/>
                <a:ea typeface="Sriracha"/>
                <a:cs typeface="Sriracha"/>
                <a:sym typeface="Sriracha"/>
              </a:rPr>
              <a:t>Behind the Scenes</a:t>
            </a:r>
            <a:endParaRPr>
              <a:solidFill>
                <a:srgbClr val="96591A"/>
              </a:solidFill>
              <a:latin typeface="Sriracha"/>
              <a:ea typeface="Sriracha"/>
              <a:cs typeface="Sriracha"/>
              <a:sym typeface="Sriracha"/>
            </a:endParaRPr>
          </a:p>
        </p:txBody>
      </p:sp>
      <p:pic>
        <p:nvPicPr>
          <p:cNvPr id="219" name="Google Shape;219;p25" title="IMG_0870.MOV">
            <a:hlinkClick r:id="rId7"/>
          </p:cNvPr>
          <p:cNvPicPr preferRelativeResize="0"/>
          <p:nvPr/>
        </p:nvPicPr>
        <p:blipFill>
          <a:blip r:embed="rId8">
            <a:alphaModFix/>
          </a:blip>
          <a:stretch>
            <a:fillRect/>
          </a:stretch>
        </p:blipFill>
        <p:spPr>
          <a:xfrm>
            <a:off x="6074825" y="1308675"/>
            <a:ext cx="2063175" cy="3667877"/>
          </a:xfrm>
          <a:prstGeom prst="rect">
            <a:avLst/>
          </a:prstGeom>
          <a:noFill/>
          <a:ln>
            <a:noFill/>
          </a:ln>
        </p:spPr>
      </p:pic>
      <p:sp>
        <p:nvSpPr>
          <p:cNvPr id="220" name="Google Shape;220;p25"/>
          <p:cNvSpPr txBox="1"/>
          <p:nvPr/>
        </p:nvSpPr>
        <p:spPr>
          <a:xfrm>
            <a:off x="6311400" y="598563"/>
            <a:ext cx="1590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Itim"/>
                <a:ea typeface="Itim"/>
                <a:cs typeface="Itim"/>
                <a:sym typeface="Itim"/>
              </a:rPr>
              <a:t>After-Event Posts:</a:t>
            </a:r>
            <a:endParaRPr b="1" sz="1600">
              <a:solidFill>
                <a:schemeClr val="lt1"/>
              </a:solidFill>
              <a:latin typeface="Itim"/>
              <a:ea typeface="Itim"/>
              <a:cs typeface="Itim"/>
              <a:sym typeface="Itim"/>
            </a:endParaRPr>
          </a:p>
        </p:txBody>
      </p:sp>
      <p:sp>
        <p:nvSpPr>
          <p:cNvPr id="221" name="Google Shape;221;p25"/>
          <p:cNvSpPr txBox="1"/>
          <p:nvPr/>
        </p:nvSpPr>
        <p:spPr>
          <a:xfrm>
            <a:off x="296925" y="1396150"/>
            <a:ext cx="2271900" cy="38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Itim"/>
                <a:ea typeface="Itim"/>
                <a:cs typeface="Itim"/>
                <a:sym typeface="Itim"/>
              </a:rPr>
              <a:t>Employee Takeover</a:t>
            </a:r>
            <a:r>
              <a:rPr b="1" lang="en" sz="1800">
                <a:solidFill>
                  <a:schemeClr val="lt1"/>
                </a:solidFill>
                <a:latin typeface="Itim"/>
                <a:ea typeface="Itim"/>
                <a:cs typeface="Itim"/>
                <a:sym typeface="Itim"/>
              </a:rPr>
              <a:t>:</a:t>
            </a:r>
            <a:endParaRPr b="1" sz="1800">
              <a:solidFill>
                <a:schemeClr val="lt1"/>
              </a:solidFill>
              <a:latin typeface="Itim"/>
              <a:ea typeface="Itim"/>
              <a:cs typeface="Itim"/>
              <a:sym typeface="Itim"/>
            </a:endParaRPr>
          </a:p>
        </p:txBody>
      </p:sp>
      <p:sp>
        <p:nvSpPr>
          <p:cNvPr id="222" name="Google Shape;222;p25"/>
          <p:cNvSpPr txBox="1"/>
          <p:nvPr/>
        </p:nvSpPr>
        <p:spPr>
          <a:xfrm>
            <a:off x="0" y="3620000"/>
            <a:ext cx="2271900" cy="38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Itim"/>
                <a:ea typeface="Itim"/>
                <a:cs typeface="Itim"/>
                <a:sym typeface="Itim"/>
              </a:rPr>
              <a:t>Cider-Making:</a:t>
            </a:r>
            <a:endParaRPr b="1" sz="1800">
              <a:solidFill>
                <a:schemeClr val="lt1"/>
              </a:solidFill>
              <a:latin typeface="Itim"/>
              <a:ea typeface="Itim"/>
              <a:cs typeface="Itim"/>
              <a:sym typeface="Itim"/>
            </a:endParaRPr>
          </a:p>
        </p:txBody>
      </p:sp>
      <p:pic>
        <p:nvPicPr>
          <p:cNvPr id="223" name="Google Shape;223;p25"/>
          <p:cNvPicPr preferRelativeResize="0"/>
          <p:nvPr/>
        </p:nvPicPr>
        <p:blipFill>
          <a:blip r:embed="rId9">
            <a:alphaModFix/>
          </a:blip>
          <a:stretch>
            <a:fillRect/>
          </a:stretch>
        </p:blipFill>
        <p:spPr>
          <a:xfrm>
            <a:off x="2568825" y="3070938"/>
            <a:ext cx="3387750" cy="1905601"/>
          </a:xfrm>
          <a:prstGeom prst="rect">
            <a:avLst/>
          </a:prstGeom>
          <a:noFill/>
          <a:ln>
            <a:noFill/>
          </a:ln>
        </p:spPr>
      </p:pic>
      <p:pic>
        <p:nvPicPr>
          <p:cNvPr id="224" name="Google Shape;224;p25"/>
          <p:cNvPicPr preferRelativeResize="0"/>
          <p:nvPr/>
        </p:nvPicPr>
        <p:blipFill>
          <a:blip r:embed="rId10">
            <a:alphaModFix/>
          </a:blip>
          <a:stretch>
            <a:fillRect/>
          </a:stretch>
        </p:blipFill>
        <p:spPr>
          <a:xfrm>
            <a:off x="2568824" y="839250"/>
            <a:ext cx="2113628" cy="2113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6"/>
          <p:cNvSpPr txBox="1"/>
          <p:nvPr>
            <p:ph type="title"/>
          </p:nvPr>
        </p:nvSpPr>
        <p:spPr>
          <a:xfrm>
            <a:off x="-74100" y="128975"/>
            <a:ext cx="9144000" cy="5727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rgbClr val="96591A"/>
                </a:solidFill>
                <a:latin typeface="Sriracha"/>
                <a:ea typeface="Sriracha"/>
                <a:cs typeface="Sriracha"/>
                <a:sym typeface="Sriracha"/>
              </a:rPr>
              <a:t>Impact: </a:t>
            </a:r>
            <a:r>
              <a:rPr lang="en">
                <a:solidFill>
                  <a:srgbClr val="96591A"/>
                </a:solidFill>
                <a:latin typeface="Sriracha"/>
                <a:ea typeface="Sriracha"/>
                <a:cs typeface="Sriracha"/>
                <a:sym typeface="Sriracha"/>
              </a:rPr>
              <a:t>The </a:t>
            </a:r>
            <a:r>
              <a:rPr lang="en">
                <a:solidFill>
                  <a:srgbClr val="96591A"/>
                </a:solidFill>
                <a:latin typeface="Sriracha"/>
                <a:ea typeface="Sriracha"/>
                <a:cs typeface="Sriracha"/>
                <a:sym typeface="Sriracha"/>
              </a:rPr>
              <a:t>Power of Creativity and Class Concepts</a:t>
            </a:r>
            <a:endParaRPr>
              <a:solidFill>
                <a:srgbClr val="96591A"/>
              </a:solidFill>
              <a:latin typeface="Sriracha"/>
              <a:ea typeface="Sriracha"/>
              <a:cs typeface="Sriracha"/>
              <a:sym typeface="Sriracha"/>
            </a:endParaRPr>
          </a:p>
        </p:txBody>
      </p:sp>
      <p:sp>
        <p:nvSpPr>
          <p:cNvPr id="230" name="Google Shape;230;p26"/>
          <p:cNvSpPr txBox="1"/>
          <p:nvPr/>
        </p:nvSpPr>
        <p:spPr>
          <a:xfrm>
            <a:off x="353800" y="701663"/>
            <a:ext cx="8004000" cy="29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Itim"/>
                <a:ea typeface="Itim"/>
                <a:cs typeface="Itim"/>
                <a:sym typeface="Itim"/>
              </a:rPr>
              <a:t>Integrating Social Media</a:t>
            </a:r>
            <a:endParaRPr b="1" sz="1800">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sz="1600">
                <a:solidFill>
                  <a:schemeClr val="dk1"/>
                </a:solidFill>
                <a:latin typeface="Itim"/>
                <a:ea typeface="Itim"/>
                <a:cs typeface="Itim"/>
                <a:sym typeface="Itim"/>
              </a:rPr>
              <a:t> </a:t>
            </a:r>
            <a:r>
              <a:rPr lang="en" sz="1600">
                <a:solidFill>
                  <a:schemeClr val="dk1"/>
                </a:solidFill>
                <a:highlight>
                  <a:srgbClr val="FFDFAC"/>
                </a:highlight>
                <a:latin typeface="Itim"/>
                <a:ea typeface="Itim"/>
                <a:cs typeface="Itim"/>
                <a:sym typeface="Itim"/>
              </a:rPr>
              <a:t> </a:t>
            </a:r>
            <a:r>
              <a:rPr lang="en" sz="1600">
                <a:solidFill>
                  <a:schemeClr val="dk1"/>
                </a:solidFill>
                <a:latin typeface="Itim"/>
                <a:ea typeface="Itim"/>
                <a:cs typeface="Itim"/>
                <a:sym typeface="Itim"/>
              </a:rPr>
              <a:t>Matching the right platforms to the right content</a:t>
            </a:r>
            <a:endParaRPr sz="1600">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sz="1600">
                <a:solidFill>
                  <a:schemeClr val="dk1"/>
                </a:solidFill>
                <a:latin typeface="Itim"/>
                <a:ea typeface="Itim"/>
                <a:cs typeface="Itim"/>
                <a:sym typeface="Itim"/>
              </a:rPr>
              <a:t> </a:t>
            </a:r>
            <a:r>
              <a:rPr lang="en" sz="1600">
                <a:solidFill>
                  <a:schemeClr val="dk1"/>
                </a:solidFill>
                <a:highlight>
                  <a:srgbClr val="FFDFAC"/>
                </a:highlight>
                <a:latin typeface="Itim"/>
                <a:ea typeface="Itim"/>
                <a:cs typeface="Itim"/>
                <a:sym typeface="Itim"/>
              </a:rPr>
              <a:t> </a:t>
            </a:r>
            <a:r>
              <a:rPr lang="en" sz="1600">
                <a:solidFill>
                  <a:schemeClr val="dk1"/>
                </a:solidFill>
                <a:latin typeface="Itim"/>
                <a:ea typeface="Itim"/>
                <a:cs typeface="Itim"/>
                <a:sym typeface="Itim"/>
              </a:rPr>
              <a:t>Shows understanding of customer journey</a:t>
            </a:r>
            <a:endParaRPr sz="1600">
              <a:solidFill>
                <a:schemeClr val="dk1"/>
              </a:solidFill>
              <a:latin typeface="Itim"/>
              <a:ea typeface="Itim"/>
              <a:cs typeface="Itim"/>
              <a:sym typeface="Itim"/>
            </a:endParaRPr>
          </a:p>
          <a:p>
            <a:pPr indent="0" lvl="0" marL="0" rtl="0" algn="l">
              <a:lnSpc>
                <a:spcPct val="150000"/>
              </a:lnSpc>
              <a:spcBef>
                <a:spcPts val="0"/>
              </a:spcBef>
              <a:spcAft>
                <a:spcPts val="0"/>
              </a:spcAft>
              <a:buClr>
                <a:schemeClr val="dk1"/>
              </a:buClr>
              <a:buSzPts val="1100"/>
              <a:buFont typeface="Arial"/>
              <a:buNone/>
            </a:pPr>
            <a:r>
              <a:rPr lang="en" sz="1600">
                <a:solidFill>
                  <a:schemeClr val="dk1"/>
                </a:solidFill>
                <a:latin typeface="Itim"/>
                <a:ea typeface="Itim"/>
                <a:cs typeface="Itim"/>
                <a:sym typeface="Itim"/>
              </a:rPr>
              <a:t> </a:t>
            </a:r>
            <a:r>
              <a:rPr lang="en" sz="1600">
                <a:solidFill>
                  <a:schemeClr val="dk1"/>
                </a:solidFill>
                <a:highlight>
                  <a:srgbClr val="FFDFAC"/>
                </a:highlight>
                <a:latin typeface="Itim"/>
                <a:ea typeface="Itim"/>
                <a:cs typeface="Itim"/>
                <a:sym typeface="Itim"/>
              </a:rPr>
              <a:t> </a:t>
            </a:r>
            <a:r>
              <a:rPr lang="en" sz="1600">
                <a:solidFill>
                  <a:schemeClr val="dk1"/>
                </a:solidFill>
                <a:latin typeface="Itim"/>
                <a:ea typeface="Itim"/>
                <a:cs typeface="Itim"/>
                <a:sym typeface="Itim"/>
              </a:rPr>
              <a:t>Use hashtags to create community and drive engagement (likes, follows, UGC)</a:t>
            </a:r>
            <a:endParaRPr sz="1600">
              <a:solidFill>
                <a:schemeClr val="dk1"/>
              </a:solidFill>
              <a:latin typeface="Itim"/>
              <a:ea typeface="Itim"/>
              <a:cs typeface="Itim"/>
              <a:sym typeface="Itim"/>
            </a:endParaRPr>
          </a:p>
          <a:p>
            <a:pPr indent="0" lvl="0" marL="0" rtl="0" algn="l">
              <a:spcBef>
                <a:spcPts val="0"/>
              </a:spcBef>
              <a:spcAft>
                <a:spcPts val="0"/>
              </a:spcAft>
              <a:buClr>
                <a:schemeClr val="dk1"/>
              </a:buClr>
              <a:buSzPts val="1100"/>
              <a:buFont typeface="Arial"/>
              <a:buNone/>
            </a:pPr>
            <a:r>
              <a:rPr b="1" lang="en" sz="1800">
                <a:solidFill>
                  <a:schemeClr val="dk1"/>
                </a:solidFill>
                <a:latin typeface="Itim"/>
                <a:ea typeface="Itim"/>
                <a:cs typeface="Itim"/>
                <a:sym typeface="Itim"/>
              </a:rPr>
              <a:t>Art &amp; Design</a:t>
            </a:r>
            <a:endParaRPr b="1" sz="1800">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sz="1600">
                <a:solidFill>
                  <a:schemeClr val="dk1"/>
                </a:solidFill>
                <a:latin typeface="Itim"/>
                <a:ea typeface="Itim"/>
                <a:cs typeface="Itim"/>
                <a:sym typeface="Itim"/>
              </a:rPr>
              <a:t> </a:t>
            </a:r>
            <a:r>
              <a:rPr lang="en" sz="1600">
                <a:solidFill>
                  <a:schemeClr val="dk1"/>
                </a:solidFill>
                <a:highlight>
                  <a:srgbClr val="FFDFAC"/>
                </a:highlight>
                <a:latin typeface="Itim"/>
                <a:ea typeface="Itim"/>
                <a:cs typeface="Itim"/>
                <a:sym typeface="Itim"/>
              </a:rPr>
              <a:t> </a:t>
            </a:r>
            <a:r>
              <a:rPr lang="en" sz="1600">
                <a:solidFill>
                  <a:schemeClr val="dk1"/>
                </a:solidFill>
                <a:latin typeface="Itim"/>
                <a:ea typeface="Itim"/>
                <a:cs typeface="Itim"/>
                <a:sym typeface="Itim"/>
              </a:rPr>
              <a:t>Show the core values of the brand and offerings</a:t>
            </a:r>
            <a:endParaRPr sz="1600">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sz="1600">
                <a:solidFill>
                  <a:schemeClr val="dk1"/>
                </a:solidFill>
                <a:latin typeface="Itim"/>
                <a:ea typeface="Itim"/>
                <a:cs typeface="Itim"/>
                <a:sym typeface="Itim"/>
              </a:rPr>
              <a:t> </a:t>
            </a:r>
            <a:r>
              <a:rPr lang="en" sz="1600">
                <a:solidFill>
                  <a:schemeClr val="dk1"/>
                </a:solidFill>
                <a:highlight>
                  <a:srgbClr val="FFDFAC"/>
                </a:highlight>
                <a:latin typeface="Itim"/>
                <a:ea typeface="Itim"/>
                <a:cs typeface="Itim"/>
                <a:sym typeface="Itim"/>
              </a:rPr>
              <a:t> </a:t>
            </a:r>
            <a:r>
              <a:rPr lang="en" sz="1600">
                <a:solidFill>
                  <a:schemeClr val="dk1"/>
                </a:solidFill>
                <a:latin typeface="Itim"/>
                <a:ea typeface="Itim"/>
                <a:cs typeface="Itim"/>
                <a:sym typeface="Itim"/>
              </a:rPr>
              <a:t>Elements used: Unity, Contrast &amp; Dominance, Proportion, Balance</a:t>
            </a:r>
            <a:endParaRPr sz="1600">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sz="1600">
                <a:solidFill>
                  <a:schemeClr val="dk1"/>
                </a:solidFill>
                <a:latin typeface="Itim"/>
                <a:ea typeface="Itim"/>
                <a:cs typeface="Itim"/>
                <a:sym typeface="Itim"/>
              </a:rPr>
              <a:t> </a:t>
            </a:r>
            <a:r>
              <a:rPr lang="en" sz="1600">
                <a:solidFill>
                  <a:schemeClr val="dk1"/>
                </a:solidFill>
                <a:highlight>
                  <a:srgbClr val="FFDFAC"/>
                </a:highlight>
                <a:latin typeface="Itim"/>
                <a:ea typeface="Itim"/>
                <a:cs typeface="Itim"/>
                <a:sym typeface="Itim"/>
              </a:rPr>
              <a:t> </a:t>
            </a:r>
            <a:r>
              <a:rPr lang="en" sz="1600">
                <a:solidFill>
                  <a:schemeClr val="dk1"/>
                </a:solidFill>
                <a:latin typeface="Itim"/>
                <a:ea typeface="Itim"/>
                <a:cs typeface="Itim"/>
                <a:sym typeface="Itim"/>
              </a:rPr>
              <a:t>Use of Color: Orange (associated with drinks, warm, energizing)</a:t>
            </a:r>
            <a:endParaRPr b="1" sz="1600">
              <a:solidFill>
                <a:schemeClr val="dk1"/>
              </a:solidFill>
              <a:latin typeface="Itim"/>
              <a:ea typeface="Itim"/>
              <a:cs typeface="Itim"/>
              <a:sym typeface="Itim"/>
            </a:endParaRPr>
          </a:p>
          <a:p>
            <a:pPr indent="0" lvl="0" marL="0" rtl="0" algn="l">
              <a:spcBef>
                <a:spcPts val="0"/>
              </a:spcBef>
              <a:spcAft>
                <a:spcPts val="0"/>
              </a:spcAft>
              <a:buNone/>
            </a:pPr>
            <a:r>
              <a:rPr b="1" lang="en" sz="1800">
                <a:solidFill>
                  <a:schemeClr val="dk1"/>
                </a:solidFill>
                <a:latin typeface="Itim"/>
                <a:ea typeface="Itim"/>
                <a:cs typeface="Itim"/>
                <a:sym typeface="Itim"/>
              </a:rPr>
              <a:t>Creativity in Advertising</a:t>
            </a:r>
            <a:endParaRPr b="1" sz="1800">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sz="1600">
                <a:solidFill>
                  <a:schemeClr val="dk1"/>
                </a:solidFill>
                <a:latin typeface="Itim"/>
                <a:ea typeface="Itim"/>
                <a:cs typeface="Itim"/>
                <a:sym typeface="Itim"/>
              </a:rPr>
              <a:t> </a:t>
            </a:r>
            <a:r>
              <a:rPr lang="en" sz="1600">
                <a:solidFill>
                  <a:schemeClr val="dk1"/>
                </a:solidFill>
                <a:highlight>
                  <a:srgbClr val="FFDFAC"/>
                </a:highlight>
                <a:latin typeface="Itim"/>
                <a:ea typeface="Itim"/>
                <a:cs typeface="Itim"/>
                <a:sym typeface="Itim"/>
              </a:rPr>
              <a:t> </a:t>
            </a:r>
            <a:r>
              <a:rPr lang="en" sz="1600">
                <a:solidFill>
                  <a:schemeClr val="dk1"/>
                </a:solidFill>
                <a:latin typeface="Itim"/>
                <a:ea typeface="Itim"/>
                <a:cs typeface="Itim"/>
                <a:sym typeface="Itim"/>
              </a:rPr>
              <a:t>Elements used: Artistic Value, Originality, and Flexibility</a:t>
            </a:r>
            <a:endParaRPr sz="1600">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sz="1600">
                <a:solidFill>
                  <a:schemeClr val="dk1"/>
                </a:solidFill>
                <a:latin typeface="Itim"/>
                <a:ea typeface="Itim"/>
                <a:cs typeface="Itim"/>
                <a:sym typeface="Itim"/>
              </a:rPr>
              <a:t> </a:t>
            </a:r>
            <a:r>
              <a:rPr lang="en" sz="1600">
                <a:solidFill>
                  <a:schemeClr val="dk1"/>
                </a:solidFill>
                <a:highlight>
                  <a:srgbClr val="FFDFAC"/>
                </a:highlight>
                <a:latin typeface="Itim"/>
                <a:ea typeface="Itim"/>
                <a:cs typeface="Itim"/>
                <a:sym typeface="Itim"/>
              </a:rPr>
              <a:t> </a:t>
            </a:r>
            <a:r>
              <a:rPr lang="en" sz="1600">
                <a:solidFill>
                  <a:schemeClr val="dk1"/>
                </a:solidFill>
                <a:latin typeface="Itim"/>
                <a:ea typeface="Itim"/>
                <a:cs typeface="Itim"/>
                <a:sym typeface="Itim"/>
              </a:rPr>
              <a:t>Originality is rated as most effective</a:t>
            </a:r>
            <a:endParaRPr sz="1600">
              <a:solidFill>
                <a:schemeClr val="dk1"/>
              </a:solidFill>
              <a:latin typeface="Itim"/>
              <a:ea typeface="Itim"/>
              <a:cs typeface="Itim"/>
              <a:sym typeface="Itim"/>
            </a:endParaRPr>
          </a:p>
          <a:p>
            <a:pPr indent="0" lvl="0" marL="0" rtl="0" algn="l">
              <a:lnSpc>
                <a:spcPct val="150000"/>
              </a:lnSpc>
              <a:spcBef>
                <a:spcPts val="0"/>
              </a:spcBef>
              <a:spcAft>
                <a:spcPts val="0"/>
              </a:spcAft>
              <a:buNone/>
            </a:pPr>
            <a:r>
              <a:rPr lang="en" sz="1600">
                <a:solidFill>
                  <a:schemeClr val="dk1"/>
                </a:solidFill>
                <a:latin typeface="Itim"/>
                <a:ea typeface="Itim"/>
                <a:cs typeface="Itim"/>
                <a:sym typeface="Itim"/>
              </a:rPr>
              <a:t> </a:t>
            </a:r>
            <a:r>
              <a:rPr lang="en" sz="1600">
                <a:solidFill>
                  <a:schemeClr val="dk1"/>
                </a:solidFill>
                <a:highlight>
                  <a:srgbClr val="FFDFAC"/>
                </a:highlight>
                <a:latin typeface="Itim"/>
                <a:ea typeface="Itim"/>
                <a:cs typeface="Itim"/>
                <a:sym typeface="Itim"/>
              </a:rPr>
              <a:t> </a:t>
            </a:r>
            <a:r>
              <a:rPr lang="en" sz="1600">
                <a:solidFill>
                  <a:schemeClr val="dk1"/>
                </a:solidFill>
                <a:latin typeface="Itim"/>
                <a:ea typeface="Itim"/>
                <a:cs typeface="Itim"/>
                <a:sym typeface="Itim"/>
              </a:rPr>
              <a:t>Increases attention and leads to a positive attitude towards the brand and its offerings</a:t>
            </a:r>
            <a:endParaRPr sz="1600">
              <a:solidFill>
                <a:schemeClr val="dk1"/>
              </a:solidFill>
              <a:latin typeface="Itim"/>
              <a:ea typeface="Itim"/>
              <a:cs typeface="Itim"/>
              <a:sym typeface="Itim"/>
            </a:endParaRPr>
          </a:p>
        </p:txBody>
      </p:sp>
      <p:pic>
        <p:nvPicPr>
          <p:cNvPr id="231" name="Google Shape;231;p26"/>
          <p:cNvPicPr preferRelativeResize="0"/>
          <p:nvPr/>
        </p:nvPicPr>
        <p:blipFill>
          <a:blip r:embed="rId4">
            <a:alphaModFix/>
          </a:blip>
          <a:stretch>
            <a:fillRect/>
          </a:stretch>
        </p:blipFill>
        <p:spPr>
          <a:xfrm rot="-356279">
            <a:off x="7282870" y="1772918"/>
            <a:ext cx="4246182" cy="4246161"/>
          </a:xfrm>
          <a:prstGeom prst="rect">
            <a:avLst/>
          </a:prstGeom>
          <a:noFill/>
          <a:ln>
            <a:noFill/>
          </a:ln>
        </p:spPr>
      </p:pic>
      <p:pic>
        <p:nvPicPr>
          <p:cNvPr id="232" name="Google Shape;232;p26"/>
          <p:cNvPicPr preferRelativeResize="0"/>
          <p:nvPr/>
        </p:nvPicPr>
        <p:blipFill rotWithShape="1">
          <a:blip r:embed="rId5">
            <a:alphaModFix/>
          </a:blip>
          <a:srcRect b="7232" l="50159" r="28892" t="48503"/>
          <a:stretch/>
        </p:blipFill>
        <p:spPr>
          <a:xfrm>
            <a:off x="-1038325" y="-2645800"/>
            <a:ext cx="3139950" cy="41241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7"/>
          <p:cNvSpPr txBox="1"/>
          <p:nvPr>
            <p:ph type="title"/>
          </p:nvPr>
        </p:nvSpPr>
        <p:spPr>
          <a:xfrm>
            <a:off x="0" y="266550"/>
            <a:ext cx="9144000" cy="572700"/>
          </a:xfrm>
          <a:prstGeom prst="rect">
            <a:avLst/>
          </a:prstGeom>
          <a:noFill/>
        </p:spPr>
        <p:txBody>
          <a:bodyPr anchorCtr="0" anchor="t" bIns="91425" lIns="91425" spcFirstLastPara="1" rIns="91425" wrap="square" tIns="91425">
            <a:noAutofit/>
          </a:bodyPr>
          <a:lstStyle/>
          <a:p>
            <a:pPr indent="457200" lvl="0" marL="0" rtl="0" algn="l">
              <a:spcBef>
                <a:spcPts val="0"/>
              </a:spcBef>
              <a:spcAft>
                <a:spcPts val="0"/>
              </a:spcAft>
              <a:buNone/>
            </a:pPr>
            <a:r>
              <a:rPr lang="en">
                <a:solidFill>
                  <a:srgbClr val="96591A"/>
                </a:solidFill>
                <a:latin typeface="Sriracha"/>
                <a:ea typeface="Sriracha"/>
                <a:cs typeface="Sriracha"/>
                <a:sym typeface="Sriracha"/>
              </a:rPr>
              <a:t>Impact: Social Media Optimization</a:t>
            </a:r>
            <a:endParaRPr>
              <a:solidFill>
                <a:srgbClr val="96591A"/>
              </a:solidFill>
              <a:latin typeface="Sriracha"/>
              <a:ea typeface="Sriracha"/>
              <a:cs typeface="Sriracha"/>
              <a:sym typeface="Sriracha"/>
            </a:endParaRPr>
          </a:p>
        </p:txBody>
      </p:sp>
      <p:sp>
        <p:nvSpPr>
          <p:cNvPr id="238" name="Google Shape;238;p27"/>
          <p:cNvSpPr txBox="1"/>
          <p:nvPr/>
        </p:nvSpPr>
        <p:spPr>
          <a:xfrm>
            <a:off x="509275" y="794702"/>
            <a:ext cx="8004000" cy="345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1"/>
                </a:solidFill>
                <a:latin typeface="Itim"/>
                <a:ea typeface="Itim"/>
                <a:cs typeface="Itim"/>
                <a:sym typeface="Itim"/>
              </a:rPr>
              <a:t>We found that:</a:t>
            </a:r>
            <a:endParaRPr sz="1600">
              <a:solidFill>
                <a:schemeClr val="dk1"/>
              </a:solidFill>
              <a:latin typeface="Itim"/>
              <a:ea typeface="Itim"/>
              <a:cs typeface="Itim"/>
              <a:sym typeface="Itim"/>
            </a:endParaRPr>
          </a:p>
          <a:p>
            <a:pPr indent="-330200" lvl="0" marL="457200" rtl="0" algn="l">
              <a:lnSpc>
                <a:spcPct val="115000"/>
              </a:lnSpc>
              <a:spcBef>
                <a:spcPts val="1200"/>
              </a:spcBef>
              <a:spcAft>
                <a:spcPts val="0"/>
              </a:spcAft>
              <a:buClr>
                <a:schemeClr val="dk1"/>
              </a:buClr>
              <a:buSzPts val="1600"/>
              <a:buFont typeface="Itim"/>
              <a:buChar char="-"/>
            </a:pPr>
            <a:r>
              <a:rPr lang="en" sz="1600">
                <a:solidFill>
                  <a:schemeClr val="dk1"/>
                </a:solidFill>
                <a:latin typeface="Itim"/>
                <a:ea typeface="Itim"/>
                <a:cs typeface="Itim"/>
                <a:sym typeface="Itim"/>
              </a:rPr>
              <a:t>Instagram is the place to be</a:t>
            </a:r>
            <a:endParaRPr sz="1600">
              <a:solidFill>
                <a:schemeClr val="dk1"/>
              </a:solidFill>
              <a:latin typeface="Itim"/>
              <a:ea typeface="Itim"/>
              <a:cs typeface="Itim"/>
              <a:sym typeface="Itim"/>
            </a:endParaRPr>
          </a:p>
          <a:p>
            <a:pPr indent="-330200" lvl="0" marL="457200" rtl="0" algn="l">
              <a:lnSpc>
                <a:spcPct val="115000"/>
              </a:lnSpc>
              <a:spcBef>
                <a:spcPts val="0"/>
              </a:spcBef>
              <a:spcAft>
                <a:spcPts val="0"/>
              </a:spcAft>
              <a:buClr>
                <a:schemeClr val="dk1"/>
              </a:buClr>
              <a:buSzPts val="1600"/>
              <a:buFont typeface="Itim"/>
              <a:buChar char="-"/>
            </a:pPr>
            <a:r>
              <a:rPr lang="en" sz="1600">
                <a:solidFill>
                  <a:schemeClr val="dk1"/>
                </a:solidFill>
                <a:latin typeface="Itim"/>
                <a:ea typeface="Itim"/>
                <a:cs typeface="Itim"/>
                <a:sym typeface="Itim"/>
              </a:rPr>
              <a:t>Ideal # of followers is ~5200 for local businesses</a:t>
            </a:r>
            <a:endParaRPr sz="1600">
              <a:solidFill>
                <a:schemeClr val="dk1"/>
              </a:solidFill>
              <a:latin typeface="Itim"/>
              <a:ea typeface="Itim"/>
              <a:cs typeface="Itim"/>
              <a:sym typeface="Itim"/>
            </a:endParaRPr>
          </a:p>
          <a:p>
            <a:pPr indent="-330200" lvl="0" marL="457200" rtl="0" algn="l">
              <a:lnSpc>
                <a:spcPct val="115000"/>
              </a:lnSpc>
              <a:spcBef>
                <a:spcPts val="0"/>
              </a:spcBef>
              <a:spcAft>
                <a:spcPts val="0"/>
              </a:spcAft>
              <a:buClr>
                <a:schemeClr val="dk1"/>
              </a:buClr>
              <a:buSzPts val="1600"/>
              <a:buFont typeface="Itim"/>
              <a:buChar char="-"/>
            </a:pPr>
            <a:r>
              <a:rPr lang="en" sz="1600">
                <a:solidFill>
                  <a:schemeClr val="dk1"/>
                </a:solidFill>
                <a:latin typeface="Itim"/>
                <a:ea typeface="Itim"/>
                <a:cs typeface="Itim"/>
                <a:sym typeface="Itim"/>
              </a:rPr>
              <a:t>Paid ads and organic content have to work hand-in-hand </a:t>
            </a:r>
            <a:endParaRPr sz="1600">
              <a:solidFill>
                <a:schemeClr val="dk1"/>
              </a:solidFill>
              <a:latin typeface="Itim"/>
              <a:ea typeface="Itim"/>
              <a:cs typeface="Itim"/>
              <a:sym typeface="Itim"/>
            </a:endParaRPr>
          </a:p>
          <a:p>
            <a:pPr indent="-330200" lvl="0" marL="457200" rtl="0" algn="l">
              <a:lnSpc>
                <a:spcPct val="115000"/>
              </a:lnSpc>
              <a:spcBef>
                <a:spcPts val="0"/>
              </a:spcBef>
              <a:spcAft>
                <a:spcPts val="0"/>
              </a:spcAft>
              <a:buClr>
                <a:schemeClr val="dk1"/>
              </a:buClr>
              <a:buSzPts val="1600"/>
              <a:buFont typeface="Itim"/>
              <a:buChar char="-"/>
            </a:pPr>
            <a:r>
              <a:rPr lang="en" sz="1600">
                <a:solidFill>
                  <a:schemeClr val="dk1"/>
                </a:solidFill>
                <a:latin typeface="Itim"/>
                <a:ea typeface="Itim"/>
                <a:cs typeface="Itim"/>
                <a:sym typeface="Itim"/>
              </a:rPr>
              <a:t>Boosting in the Triangle</a:t>
            </a:r>
            <a:endParaRPr sz="1600">
              <a:solidFill>
                <a:schemeClr val="dk1"/>
              </a:solidFill>
              <a:latin typeface="Itim"/>
              <a:ea typeface="Itim"/>
              <a:cs typeface="Itim"/>
              <a:sym typeface="Itim"/>
            </a:endParaRPr>
          </a:p>
          <a:p>
            <a:pPr indent="-330200" lvl="0" marL="457200" rtl="0" algn="l">
              <a:lnSpc>
                <a:spcPct val="115000"/>
              </a:lnSpc>
              <a:spcBef>
                <a:spcPts val="0"/>
              </a:spcBef>
              <a:spcAft>
                <a:spcPts val="0"/>
              </a:spcAft>
              <a:buClr>
                <a:schemeClr val="dk1"/>
              </a:buClr>
              <a:buSzPts val="1600"/>
              <a:buFont typeface="Itim"/>
              <a:buChar char="-"/>
            </a:pPr>
            <a:r>
              <a:rPr lang="en" sz="1600">
                <a:solidFill>
                  <a:schemeClr val="dk1"/>
                </a:solidFill>
                <a:latin typeface="Itim"/>
                <a:ea typeface="Itim"/>
                <a:cs typeface="Itim"/>
                <a:sym typeface="Itim"/>
              </a:rPr>
              <a:t>Ads = create connection | Authentic content = reinforce connection</a:t>
            </a:r>
            <a:endParaRPr sz="1600">
              <a:solidFill>
                <a:schemeClr val="dk1"/>
              </a:solidFill>
              <a:latin typeface="Itim"/>
              <a:ea typeface="Itim"/>
              <a:cs typeface="Itim"/>
              <a:sym typeface="Itim"/>
            </a:endParaRPr>
          </a:p>
          <a:p>
            <a:pPr indent="-330200" lvl="0" marL="457200" rtl="0" algn="l">
              <a:lnSpc>
                <a:spcPct val="115000"/>
              </a:lnSpc>
              <a:spcBef>
                <a:spcPts val="0"/>
              </a:spcBef>
              <a:spcAft>
                <a:spcPts val="0"/>
              </a:spcAft>
              <a:buClr>
                <a:schemeClr val="dk1"/>
              </a:buClr>
              <a:buSzPts val="1600"/>
              <a:buFont typeface="Itim"/>
              <a:buChar char="-"/>
            </a:pPr>
            <a:r>
              <a:rPr lang="en" sz="1600">
                <a:solidFill>
                  <a:schemeClr val="dk1"/>
                </a:solidFill>
                <a:latin typeface="Itim"/>
                <a:ea typeface="Itim"/>
                <a:cs typeface="Itim"/>
                <a:sym typeface="Itim"/>
              </a:rPr>
              <a:t>Keeping a consistent content calendar reinforces brand perception, while unique and creative content builds brand awareness</a:t>
            </a:r>
            <a:endParaRPr sz="1600">
              <a:solidFill>
                <a:schemeClr val="dk1"/>
              </a:solidFill>
              <a:latin typeface="Itim"/>
              <a:ea typeface="Itim"/>
              <a:cs typeface="Itim"/>
              <a:sym typeface="Itim"/>
            </a:endParaRPr>
          </a:p>
          <a:p>
            <a:pPr indent="0" lvl="0" marL="457200" rtl="0" algn="l">
              <a:lnSpc>
                <a:spcPct val="115000"/>
              </a:lnSpc>
              <a:spcBef>
                <a:spcPts val="1200"/>
              </a:spcBef>
              <a:spcAft>
                <a:spcPts val="1200"/>
              </a:spcAft>
              <a:buNone/>
            </a:pPr>
            <a:r>
              <a:t/>
            </a:r>
            <a:endParaRPr sz="1600">
              <a:solidFill>
                <a:schemeClr val="dk1"/>
              </a:solidFill>
              <a:latin typeface="Itim"/>
              <a:ea typeface="Itim"/>
              <a:cs typeface="Itim"/>
              <a:sym typeface="Itim"/>
            </a:endParaRPr>
          </a:p>
        </p:txBody>
      </p:sp>
      <p:pic>
        <p:nvPicPr>
          <p:cNvPr id="239" name="Google Shape;239;p27"/>
          <p:cNvPicPr preferRelativeResize="0"/>
          <p:nvPr/>
        </p:nvPicPr>
        <p:blipFill>
          <a:blip r:embed="rId3">
            <a:alphaModFix/>
          </a:blip>
          <a:stretch>
            <a:fillRect/>
          </a:stretch>
        </p:blipFill>
        <p:spPr>
          <a:xfrm flipH="1" rot="-1180187">
            <a:off x="-1134803" y="1546828"/>
            <a:ext cx="2270400" cy="5083250"/>
          </a:xfrm>
          <a:prstGeom prst="rect">
            <a:avLst/>
          </a:prstGeom>
          <a:noFill/>
          <a:ln>
            <a:noFill/>
          </a:ln>
        </p:spPr>
      </p:pic>
      <p:pic>
        <p:nvPicPr>
          <p:cNvPr id="240" name="Google Shape;240;p27"/>
          <p:cNvPicPr preferRelativeResize="0"/>
          <p:nvPr/>
        </p:nvPicPr>
        <p:blipFill rotWithShape="1">
          <a:blip r:embed="rId4">
            <a:alphaModFix/>
          </a:blip>
          <a:srcRect b="6263" l="84991" r="0" t="49473"/>
          <a:stretch/>
        </p:blipFill>
        <p:spPr>
          <a:xfrm rot="7707237">
            <a:off x="7303541" y="-1254551"/>
            <a:ext cx="2390669" cy="438283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28"/>
          <p:cNvPicPr preferRelativeResize="0"/>
          <p:nvPr/>
        </p:nvPicPr>
        <p:blipFill>
          <a:blip r:embed="rId3">
            <a:alphaModFix/>
          </a:blip>
          <a:stretch>
            <a:fillRect/>
          </a:stretch>
        </p:blipFill>
        <p:spPr>
          <a:xfrm rot="4636963">
            <a:off x="2092475" y="-2995675"/>
            <a:ext cx="5143499" cy="5143499"/>
          </a:xfrm>
          <a:prstGeom prst="rect">
            <a:avLst/>
          </a:prstGeom>
          <a:noFill/>
          <a:ln>
            <a:noFill/>
          </a:ln>
        </p:spPr>
      </p:pic>
      <p:pic>
        <p:nvPicPr>
          <p:cNvPr id="246" name="Google Shape;246;p28"/>
          <p:cNvPicPr preferRelativeResize="0"/>
          <p:nvPr/>
        </p:nvPicPr>
        <p:blipFill>
          <a:blip r:embed="rId3">
            <a:alphaModFix/>
          </a:blip>
          <a:stretch>
            <a:fillRect/>
          </a:stretch>
        </p:blipFill>
        <p:spPr>
          <a:xfrm rot="3473248">
            <a:off x="-2386892" y="-2235996"/>
            <a:ext cx="4265036" cy="4265046"/>
          </a:xfrm>
          <a:prstGeom prst="rect">
            <a:avLst/>
          </a:prstGeom>
          <a:noFill/>
          <a:ln>
            <a:noFill/>
          </a:ln>
        </p:spPr>
      </p:pic>
      <p:pic>
        <p:nvPicPr>
          <p:cNvPr id="247" name="Google Shape;247;p28"/>
          <p:cNvPicPr preferRelativeResize="0"/>
          <p:nvPr/>
        </p:nvPicPr>
        <p:blipFill>
          <a:blip r:embed="rId3">
            <a:alphaModFix/>
          </a:blip>
          <a:stretch>
            <a:fillRect/>
          </a:stretch>
        </p:blipFill>
        <p:spPr>
          <a:xfrm>
            <a:off x="3640925" y="2739900"/>
            <a:ext cx="4149701" cy="4149701"/>
          </a:xfrm>
          <a:prstGeom prst="rect">
            <a:avLst/>
          </a:prstGeom>
          <a:noFill/>
          <a:ln>
            <a:noFill/>
          </a:ln>
        </p:spPr>
      </p:pic>
      <p:pic>
        <p:nvPicPr>
          <p:cNvPr id="248" name="Google Shape;248;p28"/>
          <p:cNvPicPr preferRelativeResize="0"/>
          <p:nvPr/>
        </p:nvPicPr>
        <p:blipFill rotWithShape="1">
          <a:blip r:embed="rId4">
            <a:alphaModFix/>
          </a:blip>
          <a:srcRect b="6263" l="84991" r="0" t="49473"/>
          <a:stretch/>
        </p:blipFill>
        <p:spPr>
          <a:xfrm flipH="1" rot="-6992906">
            <a:off x="7666478" y="2320019"/>
            <a:ext cx="2363091" cy="4332311"/>
          </a:xfrm>
          <a:prstGeom prst="rect">
            <a:avLst/>
          </a:prstGeom>
          <a:noFill/>
          <a:ln>
            <a:noFill/>
          </a:ln>
        </p:spPr>
      </p:pic>
      <p:pic>
        <p:nvPicPr>
          <p:cNvPr id="249" name="Google Shape;249;p28"/>
          <p:cNvPicPr preferRelativeResize="0"/>
          <p:nvPr/>
        </p:nvPicPr>
        <p:blipFill rotWithShape="1">
          <a:blip r:embed="rId4">
            <a:alphaModFix/>
          </a:blip>
          <a:srcRect b="6263" l="84991" r="0" t="49473"/>
          <a:stretch/>
        </p:blipFill>
        <p:spPr>
          <a:xfrm rot="6992910">
            <a:off x="3479048" y="165263"/>
            <a:ext cx="2185904" cy="4007476"/>
          </a:xfrm>
          <a:prstGeom prst="rect">
            <a:avLst/>
          </a:prstGeom>
          <a:noFill/>
          <a:ln>
            <a:noFill/>
          </a:ln>
        </p:spPr>
      </p:pic>
      <p:grpSp>
        <p:nvGrpSpPr>
          <p:cNvPr id="250" name="Google Shape;250;p28"/>
          <p:cNvGrpSpPr/>
          <p:nvPr/>
        </p:nvGrpSpPr>
        <p:grpSpPr>
          <a:xfrm rot="3198637">
            <a:off x="-1355310" y="1551977"/>
            <a:ext cx="3257375" cy="2699495"/>
            <a:chOff x="6364041" y="834900"/>
            <a:chExt cx="2052526" cy="1582775"/>
          </a:xfrm>
        </p:grpSpPr>
        <p:pic>
          <p:nvPicPr>
            <p:cNvPr id="251" name="Google Shape;251;p28"/>
            <p:cNvPicPr preferRelativeResize="0"/>
            <p:nvPr/>
          </p:nvPicPr>
          <p:blipFill rotWithShape="1">
            <a:blip r:embed="rId4">
              <a:alphaModFix/>
            </a:blip>
            <a:srcRect b="43521" l="70546" r="3085" t="24455"/>
            <a:stretch/>
          </p:blipFill>
          <p:spPr>
            <a:xfrm>
              <a:off x="6364041" y="834900"/>
              <a:ext cx="2052526" cy="1549525"/>
            </a:xfrm>
            <a:prstGeom prst="rect">
              <a:avLst/>
            </a:prstGeom>
            <a:noFill/>
            <a:ln>
              <a:noFill/>
            </a:ln>
          </p:spPr>
        </p:pic>
        <p:sp>
          <p:nvSpPr>
            <p:cNvPr id="252" name="Google Shape;252;p28"/>
            <p:cNvSpPr/>
            <p:nvPr/>
          </p:nvSpPr>
          <p:spPr>
            <a:xfrm>
              <a:off x="8080325" y="2076875"/>
              <a:ext cx="243300" cy="340800"/>
            </a:xfrm>
            <a:prstGeom prst="rect">
              <a:avLst/>
            </a:prstGeom>
            <a:solidFill>
              <a:srgbClr val="B5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53" name="Google Shape;253;p28"/>
          <p:cNvGrpSpPr/>
          <p:nvPr/>
        </p:nvGrpSpPr>
        <p:grpSpPr>
          <a:xfrm rot="1707499">
            <a:off x="7086425" y="-83434"/>
            <a:ext cx="3275725" cy="2550652"/>
            <a:chOff x="6409100" y="868075"/>
            <a:chExt cx="2052526" cy="1549600"/>
          </a:xfrm>
        </p:grpSpPr>
        <p:pic>
          <p:nvPicPr>
            <p:cNvPr id="254" name="Google Shape;254;p28"/>
            <p:cNvPicPr preferRelativeResize="0"/>
            <p:nvPr/>
          </p:nvPicPr>
          <p:blipFill rotWithShape="1">
            <a:blip r:embed="rId4">
              <a:alphaModFix/>
            </a:blip>
            <a:srcRect b="43521" l="70546" r="3085" t="24455"/>
            <a:stretch/>
          </p:blipFill>
          <p:spPr>
            <a:xfrm>
              <a:off x="6409100" y="868075"/>
              <a:ext cx="2052526" cy="1549525"/>
            </a:xfrm>
            <a:prstGeom prst="rect">
              <a:avLst/>
            </a:prstGeom>
            <a:noFill/>
            <a:ln>
              <a:noFill/>
            </a:ln>
          </p:spPr>
        </p:pic>
        <p:sp>
          <p:nvSpPr>
            <p:cNvPr id="255" name="Google Shape;255;p28"/>
            <p:cNvSpPr/>
            <p:nvPr/>
          </p:nvSpPr>
          <p:spPr>
            <a:xfrm>
              <a:off x="8080325" y="2076875"/>
              <a:ext cx="243300" cy="340800"/>
            </a:xfrm>
            <a:prstGeom prst="rect">
              <a:avLst/>
            </a:prstGeom>
            <a:solidFill>
              <a:srgbClr val="B5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6" name="Google Shape;256;p28"/>
          <p:cNvSpPr/>
          <p:nvPr/>
        </p:nvSpPr>
        <p:spPr>
          <a:xfrm>
            <a:off x="5029663" y="1019250"/>
            <a:ext cx="3884100" cy="3105000"/>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7" name="Google Shape;257;p28"/>
          <p:cNvPicPr preferRelativeResize="0"/>
          <p:nvPr/>
        </p:nvPicPr>
        <p:blipFill rotWithShape="1">
          <a:blip r:embed="rId4">
            <a:alphaModFix/>
          </a:blip>
          <a:srcRect b="6263" l="84991" r="0" t="49473"/>
          <a:stretch/>
        </p:blipFill>
        <p:spPr>
          <a:xfrm rot="6704660">
            <a:off x="-596361" y="2885081"/>
            <a:ext cx="2001473" cy="3669313"/>
          </a:xfrm>
          <a:prstGeom prst="rect">
            <a:avLst/>
          </a:prstGeom>
          <a:noFill/>
          <a:ln>
            <a:noFill/>
          </a:ln>
        </p:spPr>
      </p:pic>
      <p:sp>
        <p:nvSpPr>
          <p:cNvPr id="258" name="Google Shape;258;p28"/>
          <p:cNvSpPr/>
          <p:nvPr/>
        </p:nvSpPr>
        <p:spPr>
          <a:xfrm>
            <a:off x="704075" y="0"/>
            <a:ext cx="4101600" cy="51435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28"/>
          <p:cNvSpPr txBox="1"/>
          <p:nvPr>
            <p:ph type="ctrTitle"/>
          </p:nvPr>
        </p:nvSpPr>
        <p:spPr>
          <a:xfrm>
            <a:off x="4953025" y="1202275"/>
            <a:ext cx="4037400" cy="26193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i="1" lang="en" sz="3200">
                <a:solidFill>
                  <a:srgbClr val="FFBE58"/>
                </a:solidFill>
                <a:latin typeface="Itim"/>
                <a:ea typeface="Itim"/>
                <a:cs typeface="Itim"/>
                <a:sym typeface="Itim"/>
              </a:rPr>
              <a:t>Thank you!</a:t>
            </a:r>
            <a:endParaRPr b="1" i="1" sz="3200">
              <a:solidFill>
                <a:srgbClr val="FFBE58"/>
              </a:solidFill>
              <a:latin typeface="Itim"/>
              <a:ea typeface="Itim"/>
              <a:cs typeface="Itim"/>
              <a:sym typeface="Itim"/>
            </a:endParaRPr>
          </a:p>
          <a:p>
            <a:pPr indent="0" lvl="0" marL="0" rtl="0" algn="ctr">
              <a:lnSpc>
                <a:spcPct val="100000"/>
              </a:lnSpc>
              <a:spcBef>
                <a:spcPts val="0"/>
              </a:spcBef>
              <a:spcAft>
                <a:spcPts val="0"/>
              </a:spcAft>
              <a:buNone/>
            </a:pPr>
            <a:r>
              <a:t/>
            </a:r>
            <a:endParaRPr b="1" i="1" sz="3200">
              <a:solidFill>
                <a:srgbClr val="FFBE58"/>
              </a:solidFill>
              <a:latin typeface="Itim"/>
              <a:ea typeface="Itim"/>
              <a:cs typeface="Itim"/>
              <a:sym typeface="Itim"/>
            </a:endParaRPr>
          </a:p>
          <a:p>
            <a:pPr indent="0" lvl="0" marL="0" rtl="0" algn="ctr">
              <a:lnSpc>
                <a:spcPct val="100000"/>
              </a:lnSpc>
              <a:spcBef>
                <a:spcPts val="0"/>
              </a:spcBef>
              <a:spcAft>
                <a:spcPts val="0"/>
              </a:spcAft>
              <a:buNone/>
            </a:pPr>
            <a:r>
              <a:rPr i="1" lang="en" sz="3200">
                <a:solidFill>
                  <a:schemeClr val="lt1"/>
                </a:solidFill>
                <a:latin typeface="Itim"/>
                <a:ea typeface="Itim"/>
                <a:cs typeface="Itim"/>
                <a:sym typeface="Itim"/>
              </a:rPr>
              <a:t>We are excited to help blossom your</a:t>
            </a:r>
            <a:endParaRPr i="1" sz="3200">
              <a:solidFill>
                <a:schemeClr val="lt1"/>
              </a:solidFill>
              <a:latin typeface="Itim"/>
              <a:ea typeface="Itim"/>
              <a:cs typeface="Itim"/>
              <a:sym typeface="Itim"/>
            </a:endParaRPr>
          </a:p>
          <a:p>
            <a:pPr indent="0" lvl="0" marL="0" rtl="0" algn="ctr">
              <a:lnSpc>
                <a:spcPct val="100000"/>
              </a:lnSpc>
              <a:spcBef>
                <a:spcPts val="0"/>
              </a:spcBef>
              <a:spcAft>
                <a:spcPts val="0"/>
              </a:spcAft>
              <a:buNone/>
            </a:pPr>
            <a:r>
              <a:rPr b="1" i="1" lang="en" sz="3200">
                <a:solidFill>
                  <a:srgbClr val="96591A"/>
                </a:solidFill>
                <a:latin typeface="Itim"/>
                <a:ea typeface="Itim"/>
                <a:cs typeface="Itim"/>
                <a:sym typeface="Itim"/>
              </a:rPr>
              <a:t>Community on Tap</a:t>
            </a:r>
            <a:endParaRPr b="1" i="1" sz="3200">
              <a:solidFill>
                <a:srgbClr val="96591A"/>
              </a:solidFill>
              <a:latin typeface="Itim"/>
              <a:ea typeface="Itim"/>
              <a:cs typeface="Itim"/>
              <a:sym typeface="Itim"/>
            </a:endParaRPr>
          </a:p>
        </p:txBody>
      </p:sp>
      <p:pic>
        <p:nvPicPr>
          <p:cNvPr id="260" name="Google Shape;260;p28"/>
          <p:cNvPicPr preferRelativeResize="0"/>
          <p:nvPr/>
        </p:nvPicPr>
        <p:blipFill>
          <a:blip r:embed="rId5">
            <a:alphaModFix/>
          </a:blip>
          <a:stretch>
            <a:fillRect/>
          </a:stretch>
        </p:blipFill>
        <p:spPr>
          <a:xfrm>
            <a:off x="1090875" y="856250"/>
            <a:ext cx="3328000" cy="3104900"/>
          </a:xfrm>
          <a:prstGeom prst="rect">
            <a:avLst/>
          </a:prstGeom>
          <a:noFill/>
          <a:ln>
            <a:noFill/>
          </a:ln>
        </p:spPr>
      </p:pic>
      <p:pic>
        <p:nvPicPr>
          <p:cNvPr id="261" name="Google Shape;261;p28"/>
          <p:cNvPicPr preferRelativeResize="0"/>
          <p:nvPr/>
        </p:nvPicPr>
        <p:blipFill>
          <a:blip r:embed="rId6">
            <a:alphaModFix/>
          </a:blip>
          <a:stretch>
            <a:fillRect/>
          </a:stretch>
        </p:blipFill>
        <p:spPr>
          <a:xfrm>
            <a:off x="10667150" y="-956975"/>
            <a:ext cx="2094374" cy="2094374"/>
          </a:xfrm>
          <a:prstGeom prst="rect">
            <a:avLst/>
          </a:prstGeom>
          <a:noFill/>
          <a:ln>
            <a:noFill/>
          </a:ln>
        </p:spPr>
      </p:pic>
      <p:sp>
        <p:nvSpPr>
          <p:cNvPr id="262" name="Google Shape;262;p28"/>
          <p:cNvSpPr txBox="1"/>
          <p:nvPr>
            <p:ph type="ctrTitle"/>
          </p:nvPr>
        </p:nvSpPr>
        <p:spPr>
          <a:xfrm>
            <a:off x="5106600" y="4448788"/>
            <a:ext cx="4037400" cy="84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b="1" lang="en" sz="2400">
                <a:solidFill>
                  <a:srgbClr val="96591A"/>
                </a:solidFill>
                <a:latin typeface="Sriracha"/>
                <a:ea typeface="Sriracha"/>
                <a:cs typeface="Sriracha"/>
                <a:sym typeface="Sriracha"/>
              </a:rPr>
              <a:t>1Vision Media</a:t>
            </a:r>
            <a:endParaRPr b="1" sz="2400">
              <a:solidFill>
                <a:schemeClr val="lt1"/>
              </a:solidFill>
              <a:latin typeface="Sriracha"/>
              <a:ea typeface="Sriracha"/>
              <a:cs typeface="Sriracha"/>
              <a:sym typeface="Srirach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